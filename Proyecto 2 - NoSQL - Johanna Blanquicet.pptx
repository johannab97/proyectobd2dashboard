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3" r:id="rId3"/>
    <p:sldId id="258" r:id="rId4"/>
    <p:sldId id="297" r:id="rId5"/>
    <p:sldId id="273" r:id="rId6"/>
    <p:sldId id="259" r:id="rId7"/>
    <p:sldId id="263" r:id="rId8"/>
    <p:sldId id="295" r:id="rId9"/>
    <p:sldId id="296" r:id="rId10"/>
  </p:sldIdLst>
  <p:sldSz cx="9144000" cy="5143500" type="screen16x9"/>
  <p:notesSz cx="6858000" cy="9144000"/>
  <p:embeddedFontLst>
    <p:embeddedFont>
      <p:font typeface="EB Garamond" panose="00000500000000000000" pitchFamily="2" charset="0"/>
      <p:regular r:id="rId13"/>
      <p:bold r:id="rId14"/>
      <p:italic r:id="rId15"/>
      <p:boldItalic r:id="rId16"/>
    </p:embeddedFont>
    <p:embeddedFont>
      <p:font typeface="Fira Sans Extra Condensed Medium" panose="020B060402020202020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  <p:embeddedFont>
      <p:font typeface="Montserrat ExtraBold" panose="00000900000000000000" pitchFamily="2" charset="0"/>
      <p:bold r:id="rId27"/>
      <p:boldItalic r:id="rId28"/>
    </p:embeddedFont>
    <p:embeddedFont>
      <p:font typeface="Montserrat Light" panose="00000400000000000000" pitchFamily="2" charset="0"/>
      <p:regular r:id="rId29"/>
      <p:bold r:id="rId30"/>
      <p:italic r:id="rId31"/>
      <p:boldItalic r:id="rId32"/>
    </p:embeddedFont>
    <p:embeddedFont>
      <p:font typeface="Oswald" panose="00000500000000000000" pitchFamily="2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DB7"/>
    <a:srgbClr val="464F5D"/>
    <a:srgbClr val="B5B682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0986CA-C543-414A-8D12-F701EF26B760}">
  <a:tblStyle styleId="{4C0986CA-C543-414A-8D12-F701EF26B7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D2B0D0D-559B-10A0-1D7D-911E66E6F6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C32D59-236B-2D6B-B781-C66E8819BB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5726B-3EF5-4CB6-A3CB-97271A7637DE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1672D5-5047-D9DE-E74A-7CB0E63EFB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Zillow, NAR, Bankrate, HomeAdvisor (2024-25)</a:t>
            </a:r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26A4B0-7EE1-28E6-C4EA-701E4F2317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E2C99-EF3E-4FDF-9B6F-B3E28CAE34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2594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53187DD8-676B-C8BD-E4E3-0F685853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516612d386_1_39:notes">
            <a:extLst>
              <a:ext uri="{FF2B5EF4-FFF2-40B4-BE49-F238E27FC236}">
                <a16:creationId xmlns:a16="http://schemas.microsoft.com/office/drawing/2014/main" id="{DF8F5A43-A5BF-E274-3C79-76C32A752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516612d386_1_39:notes">
            <a:extLst>
              <a:ext uri="{FF2B5EF4-FFF2-40B4-BE49-F238E27FC236}">
                <a16:creationId xmlns:a16="http://schemas.microsoft.com/office/drawing/2014/main" id="{E801A484-3071-CCCC-6B7E-396C369FA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430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dfce81f19_0_1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dfce81f19_0_1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C74B3A-30E7-A29D-9DE7-78FA724A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dfce81f19_0_1742:notes">
            <a:extLst>
              <a:ext uri="{FF2B5EF4-FFF2-40B4-BE49-F238E27FC236}">
                <a16:creationId xmlns:a16="http://schemas.microsoft.com/office/drawing/2014/main" id="{6FDBC398-9C3B-3639-CA0D-7FDFACAA9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dfce81f19_0_1742:notes">
            <a:extLst>
              <a:ext uri="{FF2B5EF4-FFF2-40B4-BE49-F238E27FC236}">
                <a16:creationId xmlns:a16="http://schemas.microsoft.com/office/drawing/2014/main" id="{85D36E03-19FE-08A0-5B0B-078841402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283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516612d386_0_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516612d386_0_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56c698b0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56c698b0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56c698b07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56c698b07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>
          <a:extLst>
            <a:ext uri="{FF2B5EF4-FFF2-40B4-BE49-F238E27FC236}">
              <a16:creationId xmlns:a16="http://schemas.microsoft.com/office/drawing/2014/main" id="{F42145FF-6442-04C1-5175-92C13885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41a8f1e756_0_366:notes">
            <a:extLst>
              <a:ext uri="{FF2B5EF4-FFF2-40B4-BE49-F238E27FC236}">
                <a16:creationId xmlns:a16="http://schemas.microsoft.com/office/drawing/2014/main" id="{2616E10E-D00E-201E-B355-CB3EEC77D9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41a8f1e756_0_366:notes">
            <a:extLst>
              <a:ext uri="{FF2B5EF4-FFF2-40B4-BE49-F238E27FC236}">
                <a16:creationId xmlns:a16="http://schemas.microsoft.com/office/drawing/2014/main" id="{B2C2E1C2-8485-97D0-BE58-15F3F4E3A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614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>
          <a:extLst>
            <a:ext uri="{FF2B5EF4-FFF2-40B4-BE49-F238E27FC236}">
              <a16:creationId xmlns:a16="http://schemas.microsoft.com/office/drawing/2014/main" id="{966EFF89-DAD9-5B00-2058-E4C5E8C7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41a8f1e756_0_366:notes">
            <a:extLst>
              <a:ext uri="{FF2B5EF4-FFF2-40B4-BE49-F238E27FC236}">
                <a16:creationId xmlns:a16="http://schemas.microsoft.com/office/drawing/2014/main" id="{08C4DDA5-455A-A1A3-4FBD-07C39F553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41a8f1e756_0_366:notes">
            <a:extLst>
              <a:ext uri="{FF2B5EF4-FFF2-40B4-BE49-F238E27FC236}">
                <a16:creationId xmlns:a16="http://schemas.microsoft.com/office/drawing/2014/main" id="{5225C49D-A311-DC8B-F612-F6AA4C5A3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73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639" y="1507984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8639" y="2419108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2" name="Google Shape;12;p2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 flipH="1">
            <a:off x="623625" y="2236500"/>
            <a:ext cx="35769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 flipH="1">
            <a:off x="623500" y="3116767"/>
            <a:ext cx="36291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None/>
              <a:defRPr sz="1400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099510" y="-103020"/>
            <a:ext cx="5995571" cy="6199231"/>
          </a:xfrm>
          <a:custGeom>
            <a:avLst/>
            <a:gdLst/>
            <a:ahLst/>
            <a:cxnLst/>
            <a:rect l="l" t="t" r="r" b="b"/>
            <a:pathLst>
              <a:path w="201481" h="208325" extrusionOk="0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FF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_1">
    <p:bg>
      <p:bgPr>
        <a:solidFill>
          <a:srgbClr val="FFFFF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3414640" y="1853313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622740" y="2314760"/>
            <a:ext cx="19065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699102" y="1565141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ctrTitle" idx="3"/>
          </p:nvPr>
        </p:nvSpPr>
        <p:spPr>
          <a:xfrm>
            <a:off x="3414853" y="3359411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4"/>
          </p:nvPr>
        </p:nvSpPr>
        <p:spPr>
          <a:xfrm>
            <a:off x="3587640" y="3820858"/>
            <a:ext cx="19767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5" hasCustomPrompt="1"/>
          </p:nvPr>
        </p:nvSpPr>
        <p:spPr>
          <a:xfrm>
            <a:off x="3699102" y="3091842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6"/>
          </p:nvPr>
        </p:nvSpPr>
        <p:spPr>
          <a:xfrm>
            <a:off x="5582025" y="1853313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7"/>
          </p:nvPr>
        </p:nvSpPr>
        <p:spPr>
          <a:xfrm>
            <a:off x="5789900" y="2314760"/>
            <a:ext cx="19065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8" hasCustomPrompt="1"/>
          </p:nvPr>
        </p:nvSpPr>
        <p:spPr>
          <a:xfrm>
            <a:off x="5866262" y="1565141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 idx="9"/>
          </p:nvPr>
        </p:nvSpPr>
        <p:spPr>
          <a:xfrm>
            <a:off x="5581987" y="3359411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42950" y="710350"/>
            <a:ext cx="8686800" cy="279600"/>
          </a:xfrm>
          <a:prstGeom prst="rect">
            <a:avLst/>
          </a:prstGeom>
          <a:solidFill>
            <a:srgbClr val="74C1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3"/>
          </p:nvPr>
        </p:nvSpPr>
        <p:spPr>
          <a:xfrm>
            <a:off x="5754800" y="3820858"/>
            <a:ext cx="19767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14" hasCustomPrompt="1"/>
          </p:nvPr>
        </p:nvSpPr>
        <p:spPr>
          <a:xfrm>
            <a:off x="5866262" y="3091842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 txBox="1">
            <a:spLocks noGrp="1"/>
          </p:cNvSpPr>
          <p:nvPr>
            <p:ph type="ctrTitle" idx="15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ctrTitle" idx="16"/>
          </p:nvPr>
        </p:nvSpPr>
        <p:spPr>
          <a:xfrm>
            <a:off x="1226125" y="1853313"/>
            <a:ext cx="2392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7"/>
          </p:nvPr>
        </p:nvSpPr>
        <p:spPr>
          <a:xfrm>
            <a:off x="1469325" y="2314760"/>
            <a:ext cx="19065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18" hasCustomPrompt="1"/>
          </p:nvPr>
        </p:nvSpPr>
        <p:spPr>
          <a:xfrm>
            <a:off x="1545687" y="1565141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ctrTitle" idx="19"/>
          </p:nvPr>
        </p:nvSpPr>
        <p:spPr>
          <a:xfrm>
            <a:off x="1261437" y="3359411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20"/>
          </p:nvPr>
        </p:nvSpPr>
        <p:spPr>
          <a:xfrm>
            <a:off x="1434225" y="3820858"/>
            <a:ext cx="19767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title" idx="21" hasCustomPrompt="1"/>
          </p:nvPr>
        </p:nvSpPr>
        <p:spPr>
          <a:xfrm>
            <a:off x="1545687" y="3091842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3"/>
          <p:cNvSpPr/>
          <p:nvPr/>
        </p:nvSpPr>
        <p:spPr>
          <a:xfrm>
            <a:off x="419100" y="732400"/>
            <a:ext cx="235500" cy="235500"/>
          </a:xfrm>
          <a:prstGeom prst="ellipse">
            <a:avLst/>
          </a:prstGeom>
          <a:solidFill>
            <a:srgbClr val="FFCB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95250" y="732400"/>
            <a:ext cx="235500" cy="2355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7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 rot="-5400000">
            <a:off x="-101015" y="-226845"/>
            <a:ext cx="5995571" cy="6199231"/>
          </a:xfrm>
          <a:custGeom>
            <a:avLst/>
            <a:gdLst/>
            <a:ahLst/>
            <a:cxnLst/>
            <a:rect l="l" t="t" r="r" b="b"/>
            <a:pathLst>
              <a:path w="201481" h="208325" extrusionOk="0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9AD7D2">
              <a:alpha val="120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4224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 userDrawn="1">
  <p:cSld name="CUSTOM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742950" y="710350"/>
            <a:ext cx="8686800" cy="279600"/>
          </a:xfrm>
          <a:prstGeom prst="rect">
            <a:avLst/>
          </a:prstGeom>
          <a:solidFill>
            <a:srgbClr val="74C1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419100" y="732400"/>
            <a:ext cx="235500" cy="235500"/>
          </a:xfrm>
          <a:prstGeom prst="ellipse">
            <a:avLst/>
          </a:prstGeom>
          <a:solidFill>
            <a:srgbClr val="FFCB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5250" y="732400"/>
            <a:ext cx="235500" cy="2355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C323CC-EB48-4CE7-5109-45FCA3F7947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45275" y="4616347"/>
            <a:ext cx="2278063" cy="28098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s-CO" dirty="0"/>
              <a:t>Pie de página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CUSTOM_10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/>
          <p:nvPr/>
        </p:nvSpPr>
        <p:spPr>
          <a:xfrm rot="466977">
            <a:off x="4431599" y="-984378"/>
            <a:ext cx="5995900" cy="6457590"/>
          </a:xfrm>
          <a:custGeom>
            <a:avLst/>
            <a:gdLst/>
            <a:ahLst/>
            <a:cxnLst/>
            <a:rect l="l" t="t" r="r" b="b"/>
            <a:pathLst>
              <a:path w="201481" h="208325" extrusionOk="0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66AAA2">
              <a:alpha val="15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642050" y="12204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722997" y="1262675"/>
            <a:ext cx="3808200" cy="8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2"/>
          </p:nvPr>
        </p:nvSpPr>
        <p:spPr>
          <a:xfrm>
            <a:off x="562250" y="914850"/>
            <a:ext cx="2843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Montserrat ExtraBold"/>
              <a:buNone/>
              <a:defRPr sz="280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●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○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■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●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○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■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●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○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EB Garamond"/>
              <a:buChar char="■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7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subTitle" idx="1"/>
          </p:nvPr>
        </p:nvSpPr>
        <p:spPr>
          <a:xfrm flipH="1">
            <a:off x="408216" y="3101467"/>
            <a:ext cx="36291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Johanna Blanquicet Pereira</a:t>
            </a:r>
          </a:p>
        </p:txBody>
      </p:sp>
      <p:sp>
        <p:nvSpPr>
          <p:cNvPr id="94" name="Google Shape;94;p14"/>
          <p:cNvSpPr txBox="1">
            <a:spLocks noGrp="1"/>
          </p:cNvSpPr>
          <p:nvPr>
            <p:ph type="ctrTitle"/>
          </p:nvPr>
        </p:nvSpPr>
        <p:spPr>
          <a:xfrm flipH="1">
            <a:off x="408290" y="1544757"/>
            <a:ext cx="4989577" cy="134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434343"/>
                </a:solidFill>
              </a:rPr>
              <a:t>SISTEMA PREDICTIVO</a:t>
            </a:r>
            <a:endParaRPr sz="32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Montserrat Light"/>
                <a:ea typeface="Montserrat Light"/>
                <a:cs typeface="Montserrat Light"/>
                <a:sym typeface="Montserrat Light"/>
              </a:rPr>
              <a:t>DE TASACIÓN INMOBILIARIA</a:t>
            </a:r>
            <a:endParaRPr sz="2400" dirty="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95" name="Google Shape;95;p14"/>
          <p:cNvCxnSpPr/>
          <p:nvPr/>
        </p:nvCxnSpPr>
        <p:spPr>
          <a:xfrm>
            <a:off x="527666" y="2981288"/>
            <a:ext cx="1066800" cy="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14"/>
          <p:cNvSpPr/>
          <p:nvPr/>
        </p:nvSpPr>
        <p:spPr>
          <a:xfrm>
            <a:off x="5794526" y="1154146"/>
            <a:ext cx="1067402" cy="636186"/>
          </a:xfrm>
          <a:custGeom>
            <a:avLst/>
            <a:gdLst/>
            <a:ahLst/>
            <a:cxnLst/>
            <a:rect l="l" t="t" r="r" b="b"/>
            <a:pathLst>
              <a:path w="35870" h="21379" extrusionOk="0">
                <a:moveTo>
                  <a:pt x="20195" y="1"/>
                </a:moveTo>
                <a:cubicBezTo>
                  <a:pt x="14830" y="1"/>
                  <a:pt x="10436" y="4268"/>
                  <a:pt x="10267" y="9634"/>
                </a:cubicBezTo>
                <a:lnTo>
                  <a:pt x="5831" y="9634"/>
                </a:lnTo>
                <a:cubicBezTo>
                  <a:pt x="2620" y="9676"/>
                  <a:pt x="1" y="12295"/>
                  <a:pt x="1" y="15506"/>
                </a:cubicBezTo>
                <a:cubicBezTo>
                  <a:pt x="1" y="18759"/>
                  <a:pt x="2620" y="21378"/>
                  <a:pt x="5831" y="21378"/>
                </a:cubicBezTo>
                <a:lnTo>
                  <a:pt x="30039" y="21378"/>
                </a:lnTo>
                <a:cubicBezTo>
                  <a:pt x="33250" y="21378"/>
                  <a:pt x="35869" y="18759"/>
                  <a:pt x="35869" y="15506"/>
                </a:cubicBezTo>
                <a:cubicBezTo>
                  <a:pt x="35869" y="12337"/>
                  <a:pt x="33334" y="9760"/>
                  <a:pt x="30166" y="9676"/>
                </a:cubicBezTo>
                <a:cubicBezTo>
                  <a:pt x="29997" y="4268"/>
                  <a:pt x="25603" y="1"/>
                  <a:pt x="201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883979" y="1582862"/>
            <a:ext cx="1933583" cy="1150365"/>
          </a:xfrm>
          <a:custGeom>
            <a:avLst/>
            <a:gdLst/>
            <a:ahLst/>
            <a:cxnLst/>
            <a:rect l="l" t="t" r="r" b="b"/>
            <a:pathLst>
              <a:path w="64978" h="38658" extrusionOk="0">
                <a:moveTo>
                  <a:pt x="36630" y="1"/>
                </a:moveTo>
                <a:cubicBezTo>
                  <a:pt x="26870" y="1"/>
                  <a:pt x="18928" y="7732"/>
                  <a:pt x="18590" y="17449"/>
                </a:cubicBezTo>
                <a:lnTo>
                  <a:pt x="10605" y="17449"/>
                </a:lnTo>
                <a:cubicBezTo>
                  <a:pt x="4775" y="17449"/>
                  <a:pt x="1" y="22181"/>
                  <a:pt x="1" y="28053"/>
                </a:cubicBezTo>
                <a:cubicBezTo>
                  <a:pt x="1" y="33883"/>
                  <a:pt x="4775" y="38615"/>
                  <a:pt x="10605" y="38657"/>
                </a:cubicBezTo>
                <a:lnTo>
                  <a:pt x="54374" y="38657"/>
                </a:lnTo>
                <a:cubicBezTo>
                  <a:pt x="60204" y="38615"/>
                  <a:pt x="64936" y="33883"/>
                  <a:pt x="64978" y="28053"/>
                </a:cubicBezTo>
                <a:cubicBezTo>
                  <a:pt x="64936" y="22307"/>
                  <a:pt x="60373" y="17618"/>
                  <a:pt x="54627" y="17449"/>
                </a:cubicBezTo>
                <a:cubicBezTo>
                  <a:pt x="54289" y="7732"/>
                  <a:pt x="46347" y="1"/>
                  <a:pt x="3663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440541" y="1878775"/>
            <a:ext cx="5253835" cy="2215912"/>
          </a:xfrm>
          <a:custGeom>
            <a:avLst/>
            <a:gdLst/>
            <a:ahLst/>
            <a:cxnLst/>
            <a:rect l="l" t="t" r="r" b="b"/>
            <a:pathLst>
              <a:path w="176555" h="70244" extrusionOk="0">
                <a:moveTo>
                  <a:pt x="120155" y="0"/>
                </a:moveTo>
                <a:cubicBezTo>
                  <a:pt x="118869" y="0"/>
                  <a:pt x="117584" y="529"/>
                  <a:pt x="116647" y="1590"/>
                </a:cubicBezTo>
                <a:lnTo>
                  <a:pt x="100846" y="18616"/>
                </a:lnTo>
                <a:cubicBezTo>
                  <a:pt x="100662" y="18823"/>
                  <a:pt x="100404" y="18930"/>
                  <a:pt x="100145" y="18930"/>
                </a:cubicBezTo>
                <a:cubicBezTo>
                  <a:pt x="99927" y="18930"/>
                  <a:pt x="99710" y="18855"/>
                  <a:pt x="99537" y="18701"/>
                </a:cubicBezTo>
                <a:lnTo>
                  <a:pt x="87369" y="6702"/>
                </a:lnTo>
                <a:cubicBezTo>
                  <a:pt x="86486" y="5819"/>
                  <a:pt x="85322" y="5371"/>
                  <a:pt x="84158" y="5371"/>
                </a:cubicBezTo>
                <a:cubicBezTo>
                  <a:pt x="83206" y="5371"/>
                  <a:pt x="82253" y="5671"/>
                  <a:pt x="81455" y="6280"/>
                </a:cubicBezTo>
                <a:lnTo>
                  <a:pt x="71653" y="13546"/>
                </a:lnTo>
                <a:cubicBezTo>
                  <a:pt x="71526" y="13715"/>
                  <a:pt x="71315" y="13842"/>
                  <a:pt x="71104" y="13884"/>
                </a:cubicBezTo>
                <a:lnTo>
                  <a:pt x="59908" y="1801"/>
                </a:lnTo>
                <a:cubicBezTo>
                  <a:pt x="58971" y="740"/>
                  <a:pt x="57686" y="212"/>
                  <a:pt x="56400" y="212"/>
                </a:cubicBezTo>
                <a:cubicBezTo>
                  <a:pt x="55077" y="212"/>
                  <a:pt x="53753" y="772"/>
                  <a:pt x="52811" y="1886"/>
                </a:cubicBezTo>
                <a:lnTo>
                  <a:pt x="44826" y="10885"/>
                </a:lnTo>
                <a:cubicBezTo>
                  <a:pt x="44125" y="11663"/>
                  <a:pt x="42994" y="11904"/>
                  <a:pt x="41862" y="11904"/>
                </a:cubicBezTo>
                <a:cubicBezTo>
                  <a:pt x="41766" y="11904"/>
                  <a:pt x="41669" y="11902"/>
                  <a:pt x="41573" y="11899"/>
                </a:cubicBezTo>
                <a:cubicBezTo>
                  <a:pt x="41417" y="11888"/>
                  <a:pt x="41262" y="11883"/>
                  <a:pt x="41108" y="11883"/>
                </a:cubicBezTo>
                <a:cubicBezTo>
                  <a:pt x="38741" y="11883"/>
                  <a:pt x="36502" y="13084"/>
                  <a:pt x="35193" y="15067"/>
                </a:cubicBezTo>
                <a:cubicBezTo>
                  <a:pt x="26448" y="28164"/>
                  <a:pt x="1" y="69947"/>
                  <a:pt x="677" y="69947"/>
                </a:cubicBezTo>
                <a:lnTo>
                  <a:pt x="6127" y="69947"/>
                </a:lnTo>
                <a:cubicBezTo>
                  <a:pt x="6084" y="69990"/>
                  <a:pt x="6042" y="70032"/>
                  <a:pt x="6084" y="70032"/>
                </a:cubicBezTo>
                <a:lnTo>
                  <a:pt x="35235" y="69990"/>
                </a:lnTo>
                <a:lnTo>
                  <a:pt x="170471" y="70243"/>
                </a:lnTo>
                <a:cubicBezTo>
                  <a:pt x="170217" y="70032"/>
                  <a:pt x="169922" y="69863"/>
                  <a:pt x="169626" y="69736"/>
                </a:cubicBezTo>
                <a:lnTo>
                  <a:pt x="175836" y="69736"/>
                </a:lnTo>
                <a:cubicBezTo>
                  <a:pt x="176555" y="69736"/>
                  <a:pt x="150065" y="27953"/>
                  <a:pt x="141362" y="14856"/>
                </a:cubicBezTo>
                <a:cubicBezTo>
                  <a:pt x="139996" y="12847"/>
                  <a:pt x="137712" y="11678"/>
                  <a:pt x="135310" y="11678"/>
                </a:cubicBezTo>
                <a:cubicBezTo>
                  <a:pt x="135187" y="11678"/>
                  <a:pt x="135064" y="11681"/>
                  <a:pt x="134940" y="11688"/>
                </a:cubicBezTo>
                <a:cubicBezTo>
                  <a:pt x="134843" y="11691"/>
                  <a:pt x="134746" y="11693"/>
                  <a:pt x="134649" y="11693"/>
                </a:cubicBezTo>
                <a:cubicBezTo>
                  <a:pt x="133518" y="11693"/>
                  <a:pt x="132391" y="11455"/>
                  <a:pt x="131730" y="10716"/>
                </a:cubicBezTo>
                <a:lnTo>
                  <a:pt x="123745" y="1675"/>
                </a:lnTo>
                <a:cubicBezTo>
                  <a:pt x="122802" y="560"/>
                  <a:pt x="121478" y="0"/>
                  <a:pt x="120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57971" y="1878175"/>
            <a:ext cx="687696" cy="405505"/>
          </a:xfrm>
          <a:custGeom>
            <a:avLst/>
            <a:gdLst/>
            <a:ahLst/>
            <a:cxnLst/>
            <a:rect l="l" t="t" r="r" b="b"/>
            <a:pathLst>
              <a:path w="23110" h="13627" extrusionOk="0">
                <a:moveTo>
                  <a:pt x="12284" y="1"/>
                </a:moveTo>
                <a:cubicBezTo>
                  <a:pt x="10726" y="1"/>
                  <a:pt x="9155" y="919"/>
                  <a:pt x="7722" y="2582"/>
                </a:cubicBezTo>
                <a:lnTo>
                  <a:pt x="456" y="10187"/>
                </a:lnTo>
                <a:cubicBezTo>
                  <a:pt x="1" y="10717"/>
                  <a:pt x="396" y="11486"/>
                  <a:pt x="1031" y="11486"/>
                </a:cubicBezTo>
                <a:cubicBezTo>
                  <a:pt x="1104" y="11486"/>
                  <a:pt x="1180" y="11476"/>
                  <a:pt x="1258" y="11454"/>
                </a:cubicBezTo>
                <a:lnTo>
                  <a:pt x="6835" y="9891"/>
                </a:lnTo>
                <a:cubicBezTo>
                  <a:pt x="6912" y="9869"/>
                  <a:pt x="6988" y="9858"/>
                  <a:pt x="7063" y="9858"/>
                </a:cubicBezTo>
                <a:cubicBezTo>
                  <a:pt x="7278" y="9858"/>
                  <a:pt x="7481" y="9945"/>
                  <a:pt x="7638" y="10102"/>
                </a:cubicBezTo>
                <a:lnTo>
                  <a:pt x="10933" y="13397"/>
                </a:lnTo>
                <a:cubicBezTo>
                  <a:pt x="11087" y="13552"/>
                  <a:pt x="11294" y="13627"/>
                  <a:pt x="11502" y="13627"/>
                </a:cubicBezTo>
                <a:cubicBezTo>
                  <a:pt x="11749" y="13627"/>
                  <a:pt x="11997" y="13520"/>
                  <a:pt x="12158" y="13313"/>
                </a:cubicBezTo>
                <a:lnTo>
                  <a:pt x="14355" y="10187"/>
                </a:lnTo>
                <a:cubicBezTo>
                  <a:pt x="14533" y="9938"/>
                  <a:pt x="14771" y="9838"/>
                  <a:pt x="15018" y="9838"/>
                </a:cubicBezTo>
                <a:cubicBezTo>
                  <a:pt x="15064" y="9838"/>
                  <a:pt x="15111" y="9842"/>
                  <a:pt x="15158" y="9849"/>
                </a:cubicBezTo>
                <a:lnTo>
                  <a:pt x="21918" y="11158"/>
                </a:lnTo>
                <a:cubicBezTo>
                  <a:pt x="21965" y="11167"/>
                  <a:pt x="22011" y="11171"/>
                  <a:pt x="22056" y="11171"/>
                </a:cubicBezTo>
                <a:cubicBezTo>
                  <a:pt x="22698" y="11171"/>
                  <a:pt x="23110" y="10362"/>
                  <a:pt x="22636" y="9849"/>
                </a:cubicBezTo>
                <a:lnTo>
                  <a:pt x="16045" y="1990"/>
                </a:lnTo>
                <a:cubicBezTo>
                  <a:pt x="14858" y="631"/>
                  <a:pt x="13576" y="1"/>
                  <a:pt x="1228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92354" y="1877074"/>
            <a:ext cx="701087" cy="421961"/>
          </a:xfrm>
          <a:custGeom>
            <a:avLst/>
            <a:gdLst/>
            <a:ahLst/>
            <a:cxnLst/>
            <a:rect l="l" t="t" r="r" b="b"/>
            <a:pathLst>
              <a:path w="23560" h="14180" extrusionOk="0">
                <a:moveTo>
                  <a:pt x="10667" y="1"/>
                </a:moveTo>
                <a:cubicBezTo>
                  <a:pt x="9609" y="1"/>
                  <a:pt x="8540" y="436"/>
                  <a:pt x="7509" y="1436"/>
                </a:cubicBezTo>
                <a:lnTo>
                  <a:pt x="496" y="9632"/>
                </a:lnTo>
                <a:cubicBezTo>
                  <a:pt x="1" y="10127"/>
                  <a:pt x="393" y="10986"/>
                  <a:pt x="1120" y="10986"/>
                </a:cubicBezTo>
                <a:cubicBezTo>
                  <a:pt x="1137" y="10986"/>
                  <a:pt x="1154" y="10985"/>
                  <a:pt x="1172" y="10984"/>
                </a:cubicBezTo>
                <a:lnTo>
                  <a:pt x="7974" y="10139"/>
                </a:lnTo>
                <a:cubicBezTo>
                  <a:pt x="8004" y="10135"/>
                  <a:pt x="8035" y="10133"/>
                  <a:pt x="8065" y="10133"/>
                </a:cubicBezTo>
                <a:cubicBezTo>
                  <a:pt x="8329" y="10133"/>
                  <a:pt x="8583" y="10292"/>
                  <a:pt x="8734" y="10519"/>
                </a:cubicBezTo>
                <a:lnTo>
                  <a:pt x="10762" y="13815"/>
                </a:lnTo>
                <a:cubicBezTo>
                  <a:pt x="10914" y="14043"/>
                  <a:pt x="11173" y="14180"/>
                  <a:pt x="11438" y="14180"/>
                </a:cubicBezTo>
                <a:cubicBezTo>
                  <a:pt x="11614" y="14180"/>
                  <a:pt x="11793" y="14119"/>
                  <a:pt x="11945" y="13984"/>
                </a:cubicBezTo>
                <a:lnTo>
                  <a:pt x="15494" y="10900"/>
                </a:lnTo>
                <a:cubicBezTo>
                  <a:pt x="15635" y="10787"/>
                  <a:pt x="15813" y="10731"/>
                  <a:pt x="16004" y="10731"/>
                </a:cubicBezTo>
                <a:cubicBezTo>
                  <a:pt x="16100" y="10731"/>
                  <a:pt x="16198" y="10745"/>
                  <a:pt x="16297" y="10773"/>
                </a:cubicBezTo>
                <a:lnTo>
                  <a:pt x="21789" y="12758"/>
                </a:lnTo>
                <a:cubicBezTo>
                  <a:pt x="21860" y="12788"/>
                  <a:pt x="21935" y="12801"/>
                  <a:pt x="22012" y="12801"/>
                </a:cubicBezTo>
                <a:cubicBezTo>
                  <a:pt x="22710" y="12801"/>
                  <a:pt x="23560" y="11682"/>
                  <a:pt x="23141" y="11111"/>
                </a:cubicBezTo>
                <a:lnTo>
                  <a:pt x="15959" y="3422"/>
                </a:lnTo>
                <a:cubicBezTo>
                  <a:pt x="14415" y="1390"/>
                  <a:pt x="12558" y="1"/>
                  <a:pt x="106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3935159" y="3969026"/>
            <a:ext cx="6231905" cy="731707"/>
          </a:xfrm>
          <a:custGeom>
            <a:avLst/>
            <a:gdLst/>
            <a:ahLst/>
            <a:cxnLst/>
            <a:rect l="l" t="t" r="r" b="b"/>
            <a:pathLst>
              <a:path w="209423" h="24589" extrusionOk="0">
                <a:moveTo>
                  <a:pt x="24588" y="0"/>
                </a:moveTo>
                <a:cubicBezTo>
                  <a:pt x="11027" y="42"/>
                  <a:pt x="42" y="11027"/>
                  <a:pt x="0" y="24589"/>
                </a:cubicBezTo>
                <a:lnTo>
                  <a:pt x="209423" y="24589"/>
                </a:lnTo>
                <a:cubicBezTo>
                  <a:pt x="209381" y="11027"/>
                  <a:pt x="198396" y="42"/>
                  <a:pt x="1848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8097697" y="3001580"/>
            <a:ext cx="958013" cy="1241572"/>
          </a:xfrm>
          <a:custGeom>
            <a:avLst/>
            <a:gdLst/>
            <a:ahLst/>
            <a:cxnLst/>
            <a:rect l="l" t="t" r="r" b="b"/>
            <a:pathLst>
              <a:path w="32194" h="41723" extrusionOk="0">
                <a:moveTo>
                  <a:pt x="16306" y="0"/>
                </a:moveTo>
                <a:cubicBezTo>
                  <a:pt x="15667" y="0"/>
                  <a:pt x="15019" y="35"/>
                  <a:pt x="14365" y="107"/>
                </a:cubicBezTo>
                <a:cubicBezTo>
                  <a:pt x="7098" y="867"/>
                  <a:pt x="1268" y="6275"/>
                  <a:pt x="465" y="13035"/>
                </a:cubicBezTo>
                <a:cubicBezTo>
                  <a:pt x="1" y="16879"/>
                  <a:pt x="1099" y="20682"/>
                  <a:pt x="3550" y="23639"/>
                </a:cubicBezTo>
                <a:cubicBezTo>
                  <a:pt x="5366" y="25878"/>
                  <a:pt x="6296" y="28709"/>
                  <a:pt x="6127" y="31582"/>
                </a:cubicBezTo>
                <a:cubicBezTo>
                  <a:pt x="6084" y="31793"/>
                  <a:pt x="6084" y="32004"/>
                  <a:pt x="6127" y="32215"/>
                </a:cubicBezTo>
                <a:cubicBezTo>
                  <a:pt x="6127" y="37454"/>
                  <a:pt x="10647" y="41637"/>
                  <a:pt x="16266" y="41721"/>
                </a:cubicBezTo>
                <a:cubicBezTo>
                  <a:pt x="16322" y="41722"/>
                  <a:pt x="16377" y="41723"/>
                  <a:pt x="16432" y="41723"/>
                </a:cubicBezTo>
                <a:cubicBezTo>
                  <a:pt x="21936" y="41723"/>
                  <a:pt x="26534" y="37571"/>
                  <a:pt x="26659" y="32384"/>
                </a:cubicBezTo>
                <a:cubicBezTo>
                  <a:pt x="26659" y="31920"/>
                  <a:pt x="26659" y="31455"/>
                  <a:pt x="26575" y="30990"/>
                </a:cubicBezTo>
                <a:cubicBezTo>
                  <a:pt x="26279" y="28413"/>
                  <a:pt x="27082" y="25878"/>
                  <a:pt x="28772" y="23935"/>
                </a:cubicBezTo>
                <a:cubicBezTo>
                  <a:pt x="30968" y="21358"/>
                  <a:pt x="32194" y="18105"/>
                  <a:pt x="32194" y="14683"/>
                </a:cubicBezTo>
                <a:cubicBezTo>
                  <a:pt x="32154" y="6571"/>
                  <a:pt x="25068" y="0"/>
                  <a:pt x="163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8393159" y="3481539"/>
            <a:ext cx="384705" cy="1168904"/>
          </a:xfrm>
          <a:custGeom>
            <a:avLst/>
            <a:gdLst/>
            <a:ahLst/>
            <a:cxnLst/>
            <a:rect l="l" t="t" r="r" b="b"/>
            <a:pathLst>
              <a:path w="12928" h="39281" extrusionOk="0">
                <a:moveTo>
                  <a:pt x="6295" y="1"/>
                </a:moveTo>
                <a:cubicBezTo>
                  <a:pt x="5894" y="1"/>
                  <a:pt x="5492" y="265"/>
                  <a:pt x="5450" y="793"/>
                </a:cubicBezTo>
                <a:lnTo>
                  <a:pt x="5492" y="8524"/>
                </a:lnTo>
                <a:lnTo>
                  <a:pt x="1690" y="3328"/>
                </a:lnTo>
                <a:cubicBezTo>
                  <a:pt x="1515" y="3102"/>
                  <a:pt x="1250" y="2981"/>
                  <a:pt x="994" y="2981"/>
                </a:cubicBezTo>
                <a:cubicBezTo>
                  <a:pt x="817" y="2981"/>
                  <a:pt x="645" y="3038"/>
                  <a:pt x="507" y="3159"/>
                </a:cubicBezTo>
                <a:cubicBezTo>
                  <a:pt x="84" y="3412"/>
                  <a:pt x="0" y="3961"/>
                  <a:pt x="296" y="4342"/>
                </a:cubicBezTo>
                <a:lnTo>
                  <a:pt x="5196" y="11017"/>
                </a:lnTo>
                <a:cubicBezTo>
                  <a:pt x="5281" y="11143"/>
                  <a:pt x="5365" y="11228"/>
                  <a:pt x="5492" y="11270"/>
                </a:cubicBezTo>
                <a:lnTo>
                  <a:pt x="5619" y="38436"/>
                </a:lnTo>
                <a:cubicBezTo>
                  <a:pt x="5619" y="38900"/>
                  <a:pt x="5999" y="39281"/>
                  <a:pt x="6464" y="39281"/>
                </a:cubicBezTo>
                <a:cubicBezTo>
                  <a:pt x="6971" y="39281"/>
                  <a:pt x="7351" y="38900"/>
                  <a:pt x="7309" y="38436"/>
                </a:cubicBezTo>
                <a:lnTo>
                  <a:pt x="7224" y="17861"/>
                </a:lnTo>
                <a:lnTo>
                  <a:pt x="12632" y="11355"/>
                </a:lnTo>
                <a:cubicBezTo>
                  <a:pt x="12928" y="10974"/>
                  <a:pt x="12886" y="10468"/>
                  <a:pt x="12548" y="10172"/>
                </a:cubicBezTo>
                <a:cubicBezTo>
                  <a:pt x="12381" y="10024"/>
                  <a:pt x="12182" y="9957"/>
                  <a:pt x="11986" y="9957"/>
                </a:cubicBezTo>
                <a:cubicBezTo>
                  <a:pt x="11735" y="9957"/>
                  <a:pt x="11489" y="10066"/>
                  <a:pt x="11322" y="10256"/>
                </a:cubicBezTo>
                <a:lnTo>
                  <a:pt x="7224" y="15199"/>
                </a:lnTo>
                <a:lnTo>
                  <a:pt x="7140" y="793"/>
                </a:lnTo>
                <a:cubicBezTo>
                  <a:pt x="7098" y="265"/>
                  <a:pt x="6696" y="1"/>
                  <a:pt x="6295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8674755" y="2352718"/>
            <a:ext cx="1157894" cy="1500730"/>
          </a:xfrm>
          <a:custGeom>
            <a:avLst/>
            <a:gdLst/>
            <a:ahLst/>
            <a:cxnLst/>
            <a:rect l="l" t="t" r="r" b="b"/>
            <a:pathLst>
              <a:path w="38911" h="50432" extrusionOk="0">
                <a:moveTo>
                  <a:pt x="19282" y="1"/>
                </a:moveTo>
                <a:cubicBezTo>
                  <a:pt x="8639" y="1"/>
                  <a:pt x="1" y="8002"/>
                  <a:pt x="1" y="17856"/>
                </a:cubicBezTo>
                <a:cubicBezTo>
                  <a:pt x="1" y="21954"/>
                  <a:pt x="1521" y="25926"/>
                  <a:pt x="4225" y="29010"/>
                </a:cubicBezTo>
                <a:cubicBezTo>
                  <a:pt x="6253" y="31333"/>
                  <a:pt x="7225" y="34417"/>
                  <a:pt x="6845" y="37502"/>
                </a:cubicBezTo>
                <a:cubicBezTo>
                  <a:pt x="6760" y="38093"/>
                  <a:pt x="6760" y="38642"/>
                  <a:pt x="6760" y="39234"/>
                </a:cubicBezTo>
                <a:cubicBezTo>
                  <a:pt x="6969" y="45451"/>
                  <a:pt x="12494" y="50432"/>
                  <a:pt x="19142" y="50432"/>
                </a:cubicBezTo>
                <a:cubicBezTo>
                  <a:pt x="19225" y="50432"/>
                  <a:pt x="19309" y="50431"/>
                  <a:pt x="19392" y="50429"/>
                </a:cubicBezTo>
                <a:cubicBezTo>
                  <a:pt x="26194" y="50303"/>
                  <a:pt x="31602" y="45191"/>
                  <a:pt x="31602" y="38896"/>
                </a:cubicBezTo>
                <a:lnTo>
                  <a:pt x="31602" y="38177"/>
                </a:lnTo>
                <a:cubicBezTo>
                  <a:pt x="31391" y="34671"/>
                  <a:pt x="32447" y="31249"/>
                  <a:pt x="34644" y="28545"/>
                </a:cubicBezTo>
                <a:cubicBezTo>
                  <a:pt x="37601" y="24954"/>
                  <a:pt x="38911" y="20307"/>
                  <a:pt x="38362" y="15702"/>
                </a:cubicBezTo>
                <a:cubicBezTo>
                  <a:pt x="37305" y="7548"/>
                  <a:pt x="30292" y="1042"/>
                  <a:pt x="21462" y="112"/>
                </a:cubicBezTo>
                <a:cubicBezTo>
                  <a:pt x="20728" y="37"/>
                  <a:pt x="20000" y="1"/>
                  <a:pt x="19282" y="1"/>
                </a:cubicBezTo>
                <a:close/>
              </a:path>
            </a:pathLst>
          </a:custGeom>
          <a:solidFill>
            <a:srgbClr val="FFCB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9020031" y="2926800"/>
            <a:ext cx="455587" cy="1724893"/>
          </a:xfrm>
          <a:custGeom>
            <a:avLst/>
            <a:gdLst/>
            <a:ahLst/>
            <a:cxnLst/>
            <a:rect l="l" t="t" r="r" b="b"/>
            <a:pathLst>
              <a:path w="15310" h="57965" extrusionOk="0">
                <a:moveTo>
                  <a:pt x="7705" y="1"/>
                </a:moveTo>
                <a:cubicBezTo>
                  <a:pt x="7325" y="1"/>
                  <a:pt x="6987" y="339"/>
                  <a:pt x="6987" y="719"/>
                </a:cubicBezTo>
                <a:lnTo>
                  <a:pt x="6987" y="11070"/>
                </a:lnTo>
                <a:lnTo>
                  <a:pt x="1832" y="3972"/>
                </a:lnTo>
                <a:cubicBezTo>
                  <a:pt x="1676" y="3743"/>
                  <a:pt x="1464" y="3648"/>
                  <a:pt x="1256" y="3648"/>
                </a:cubicBezTo>
                <a:cubicBezTo>
                  <a:pt x="735" y="3648"/>
                  <a:pt x="239" y="4243"/>
                  <a:pt x="692" y="4817"/>
                </a:cubicBezTo>
                <a:lnTo>
                  <a:pt x="6564" y="12886"/>
                </a:lnTo>
                <a:cubicBezTo>
                  <a:pt x="6649" y="13055"/>
                  <a:pt x="6818" y="13140"/>
                  <a:pt x="6944" y="13182"/>
                </a:cubicBezTo>
                <a:lnTo>
                  <a:pt x="6944" y="19012"/>
                </a:lnTo>
                <a:lnTo>
                  <a:pt x="1410" y="12422"/>
                </a:lnTo>
                <a:cubicBezTo>
                  <a:pt x="1257" y="12289"/>
                  <a:pt x="1090" y="12233"/>
                  <a:pt x="931" y="12233"/>
                </a:cubicBezTo>
                <a:cubicBezTo>
                  <a:pt x="428" y="12233"/>
                  <a:pt x="1" y="12795"/>
                  <a:pt x="354" y="13309"/>
                </a:cubicBezTo>
                <a:lnTo>
                  <a:pt x="6987" y="21251"/>
                </a:lnTo>
                <a:lnTo>
                  <a:pt x="6987" y="57247"/>
                </a:lnTo>
                <a:cubicBezTo>
                  <a:pt x="6987" y="57627"/>
                  <a:pt x="7282" y="57923"/>
                  <a:pt x="7663" y="57965"/>
                </a:cubicBezTo>
                <a:cubicBezTo>
                  <a:pt x="8085" y="57923"/>
                  <a:pt x="8381" y="57627"/>
                  <a:pt x="8381" y="57247"/>
                </a:cubicBezTo>
                <a:lnTo>
                  <a:pt x="8381" y="21251"/>
                </a:lnTo>
                <a:lnTo>
                  <a:pt x="15014" y="13309"/>
                </a:lnTo>
                <a:cubicBezTo>
                  <a:pt x="15309" y="13013"/>
                  <a:pt x="15267" y="12591"/>
                  <a:pt x="14971" y="12337"/>
                </a:cubicBezTo>
                <a:cubicBezTo>
                  <a:pt x="14834" y="12219"/>
                  <a:pt x="14661" y="12156"/>
                  <a:pt x="14489" y="12156"/>
                </a:cubicBezTo>
                <a:cubicBezTo>
                  <a:pt x="14290" y="12156"/>
                  <a:pt x="14093" y="12240"/>
                  <a:pt x="13957" y="12422"/>
                </a:cubicBezTo>
                <a:lnTo>
                  <a:pt x="8381" y="19012"/>
                </a:lnTo>
                <a:lnTo>
                  <a:pt x="8381" y="13182"/>
                </a:lnTo>
                <a:cubicBezTo>
                  <a:pt x="8550" y="13140"/>
                  <a:pt x="8719" y="13055"/>
                  <a:pt x="8803" y="12886"/>
                </a:cubicBezTo>
                <a:lnTo>
                  <a:pt x="14676" y="4817"/>
                </a:lnTo>
                <a:cubicBezTo>
                  <a:pt x="15129" y="4243"/>
                  <a:pt x="14632" y="3648"/>
                  <a:pt x="14111" y="3648"/>
                </a:cubicBezTo>
                <a:cubicBezTo>
                  <a:pt x="13903" y="3648"/>
                  <a:pt x="13692" y="3743"/>
                  <a:pt x="13535" y="3972"/>
                </a:cubicBezTo>
                <a:lnTo>
                  <a:pt x="8381" y="11070"/>
                </a:lnTo>
                <a:lnTo>
                  <a:pt x="8381" y="719"/>
                </a:lnTo>
                <a:cubicBezTo>
                  <a:pt x="8381" y="339"/>
                  <a:pt x="8085" y="1"/>
                  <a:pt x="7705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9343584" y="3349386"/>
            <a:ext cx="755602" cy="979230"/>
          </a:xfrm>
          <a:custGeom>
            <a:avLst/>
            <a:gdLst/>
            <a:ahLst/>
            <a:cxnLst/>
            <a:rect l="l" t="t" r="r" b="b"/>
            <a:pathLst>
              <a:path w="25392" h="32907" extrusionOk="0">
                <a:moveTo>
                  <a:pt x="12801" y="1"/>
                </a:moveTo>
                <a:cubicBezTo>
                  <a:pt x="12314" y="1"/>
                  <a:pt x="11821" y="27"/>
                  <a:pt x="11323" y="79"/>
                </a:cubicBezTo>
                <a:cubicBezTo>
                  <a:pt x="5577" y="713"/>
                  <a:pt x="1014" y="4980"/>
                  <a:pt x="338" y="10303"/>
                </a:cubicBezTo>
                <a:cubicBezTo>
                  <a:pt x="0" y="13303"/>
                  <a:pt x="845" y="16345"/>
                  <a:pt x="2789" y="18669"/>
                </a:cubicBezTo>
                <a:cubicBezTo>
                  <a:pt x="4225" y="20443"/>
                  <a:pt x="4943" y="22682"/>
                  <a:pt x="4817" y="24964"/>
                </a:cubicBezTo>
                <a:lnTo>
                  <a:pt x="4817" y="25428"/>
                </a:lnTo>
                <a:cubicBezTo>
                  <a:pt x="4817" y="29526"/>
                  <a:pt x="8365" y="32864"/>
                  <a:pt x="12802" y="32906"/>
                </a:cubicBezTo>
                <a:cubicBezTo>
                  <a:pt x="12830" y="32906"/>
                  <a:pt x="12858" y="32907"/>
                  <a:pt x="12886" y="32907"/>
                </a:cubicBezTo>
                <a:cubicBezTo>
                  <a:pt x="17243" y="32907"/>
                  <a:pt x="20914" y="29669"/>
                  <a:pt x="20998" y="25555"/>
                </a:cubicBezTo>
                <a:cubicBezTo>
                  <a:pt x="21040" y="25217"/>
                  <a:pt x="20998" y="24837"/>
                  <a:pt x="20955" y="24457"/>
                </a:cubicBezTo>
                <a:cubicBezTo>
                  <a:pt x="20702" y="22429"/>
                  <a:pt x="21336" y="20443"/>
                  <a:pt x="22688" y="18922"/>
                </a:cubicBezTo>
                <a:cubicBezTo>
                  <a:pt x="24420" y="16894"/>
                  <a:pt x="25391" y="14275"/>
                  <a:pt x="25391" y="11613"/>
                </a:cubicBezTo>
                <a:cubicBezTo>
                  <a:pt x="25352" y="5180"/>
                  <a:pt x="19709" y="1"/>
                  <a:pt x="1280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9578668" y="3724807"/>
            <a:ext cx="308466" cy="924387"/>
          </a:xfrm>
          <a:custGeom>
            <a:avLst/>
            <a:gdLst/>
            <a:ahLst/>
            <a:cxnLst/>
            <a:rect l="l" t="t" r="r" b="b"/>
            <a:pathLst>
              <a:path w="10366" h="31064" extrusionOk="0">
                <a:moveTo>
                  <a:pt x="4902" y="1"/>
                </a:moveTo>
                <a:cubicBezTo>
                  <a:pt x="4542" y="1"/>
                  <a:pt x="4183" y="243"/>
                  <a:pt x="4226" y="729"/>
                </a:cubicBezTo>
                <a:lnTo>
                  <a:pt x="4226" y="6855"/>
                </a:lnTo>
                <a:lnTo>
                  <a:pt x="1226" y="2757"/>
                </a:lnTo>
                <a:cubicBezTo>
                  <a:pt x="1100" y="2582"/>
                  <a:pt x="900" y="2480"/>
                  <a:pt x="697" y="2480"/>
                </a:cubicBezTo>
                <a:cubicBezTo>
                  <a:pt x="557" y="2480"/>
                  <a:pt x="417" y="2528"/>
                  <a:pt x="296" y="2630"/>
                </a:cubicBezTo>
                <a:cubicBezTo>
                  <a:pt x="43" y="2842"/>
                  <a:pt x="1" y="3264"/>
                  <a:pt x="212" y="3518"/>
                </a:cubicBezTo>
                <a:lnTo>
                  <a:pt x="4057" y="8799"/>
                </a:lnTo>
                <a:cubicBezTo>
                  <a:pt x="4141" y="8883"/>
                  <a:pt x="4226" y="8968"/>
                  <a:pt x="4310" y="9010"/>
                </a:cubicBezTo>
                <a:lnTo>
                  <a:pt x="4395" y="30430"/>
                </a:lnTo>
                <a:cubicBezTo>
                  <a:pt x="4437" y="30852"/>
                  <a:pt x="4754" y="31063"/>
                  <a:pt x="5071" y="31063"/>
                </a:cubicBezTo>
                <a:cubicBezTo>
                  <a:pt x="5387" y="31063"/>
                  <a:pt x="5704" y="30852"/>
                  <a:pt x="5746" y="30430"/>
                </a:cubicBezTo>
                <a:lnTo>
                  <a:pt x="5662" y="14206"/>
                </a:lnTo>
                <a:lnTo>
                  <a:pt x="9929" y="9094"/>
                </a:lnTo>
                <a:cubicBezTo>
                  <a:pt x="10366" y="8564"/>
                  <a:pt x="9904" y="7941"/>
                  <a:pt x="9394" y="7941"/>
                </a:cubicBezTo>
                <a:cubicBezTo>
                  <a:pt x="9214" y="7941"/>
                  <a:pt x="9027" y="8019"/>
                  <a:pt x="8873" y="8207"/>
                </a:cubicBezTo>
                <a:lnTo>
                  <a:pt x="5662" y="12094"/>
                </a:lnTo>
                <a:lnTo>
                  <a:pt x="5577" y="729"/>
                </a:lnTo>
                <a:cubicBezTo>
                  <a:pt x="5620" y="243"/>
                  <a:pt x="5261" y="1"/>
                  <a:pt x="4902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4567505" y="3146589"/>
            <a:ext cx="859962" cy="1112901"/>
          </a:xfrm>
          <a:custGeom>
            <a:avLst/>
            <a:gdLst/>
            <a:ahLst/>
            <a:cxnLst/>
            <a:rect l="l" t="t" r="r" b="b"/>
            <a:pathLst>
              <a:path w="28899" h="37399" extrusionOk="0">
                <a:moveTo>
                  <a:pt x="14304" y="0"/>
                </a:moveTo>
                <a:cubicBezTo>
                  <a:pt x="6444" y="0"/>
                  <a:pt x="40" y="5896"/>
                  <a:pt x="1" y="13189"/>
                </a:cubicBezTo>
                <a:cubicBezTo>
                  <a:pt x="1" y="16231"/>
                  <a:pt x="1099" y="19189"/>
                  <a:pt x="3085" y="21470"/>
                </a:cubicBezTo>
                <a:cubicBezTo>
                  <a:pt x="4606" y="23202"/>
                  <a:pt x="5324" y="25484"/>
                  <a:pt x="5028" y="27765"/>
                </a:cubicBezTo>
                <a:cubicBezTo>
                  <a:pt x="4986" y="28187"/>
                  <a:pt x="4944" y="28610"/>
                  <a:pt x="4986" y="29032"/>
                </a:cubicBezTo>
                <a:cubicBezTo>
                  <a:pt x="5070" y="33670"/>
                  <a:pt x="9202" y="37399"/>
                  <a:pt x="14157" y="37399"/>
                </a:cubicBezTo>
                <a:cubicBezTo>
                  <a:pt x="14212" y="37399"/>
                  <a:pt x="14267" y="37398"/>
                  <a:pt x="14323" y="37398"/>
                </a:cubicBezTo>
                <a:cubicBezTo>
                  <a:pt x="19350" y="37313"/>
                  <a:pt x="23406" y="33553"/>
                  <a:pt x="23406" y="28863"/>
                </a:cubicBezTo>
                <a:lnTo>
                  <a:pt x="23406" y="28356"/>
                </a:lnTo>
                <a:cubicBezTo>
                  <a:pt x="23237" y="25779"/>
                  <a:pt x="24082" y="23202"/>
                  <a:pt x="25687" y="21217"/>
                </a:cubicBezTo>
                <a:cubicBezTo>
                  <a:pt x="27884" y="18555"/>
                  <a:pt x="28898" y="15133"/>
                  <a:pt x="28476" y="11711"/>
                </a:cubicBezTo>
                <a:cubicBezTo>
                  <a:pt x="27758" y="5627"/>
                  <a:pt x="22519" y="769"/>
                  <a:pt x="16013" y="93"/>
                </a:cubicBezTo>
                <a:cubicBezTo>
                  <a:pt x="15437" y="30"/>
                  <a:pt x="14867" y="0"/>
                  <a:pt x="143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4808184" y="3572359"/>
            <a:ext cx="352745" cy="1054517"/>
          </a:xfrm>
          <a:custGeom>
            <a:avLst/>
            <a:gdLst/>
            <a:ahLst/>
            <a:cxnLst/>
            <a:rect l="l" t="t" r="r" b="b"/>
            <a:pathLst>
              <a:path w="11854" h="35437" extrusionOk="0">
                <a:moveTo>
                  <a:pt x="6251" y="1"/>
                </a:moveTo>
                <a:cubicBezTo>
                  <a:pt x="5844" y="1"/>
                  <a:pt x="5432" y="276"/>
                  <a:pt x="5474" y="825"/>
                </a:cubicBezTo>
                <a:lnTo>
                  <a:pt x="5432" y="13753"/>
                </a:lnTo>
                <a:lnTo>
                  <a:pt x="1714" y="9317"/>
                </a:lnTo>
                <a:cubicBezTo>
                  <a:pt x="1549" y="9096"/>
                  <a:pt x="1341" y="9005"/>
                  <a:pt x="1136" y="9005"/>
                </a:cubicBezTo>
                <a:cubicBezTo>
                  <a:pt x="555" y="9005"/>
                  <a:pt x="0" y="9737"/>
                  <a:pt x="531" y="10331"/>
                </a:cubicBezTo>
                <a:lnTo>
                  <a:pt x="5390" y="16119"/>
                </a:lnTo>
                <a:lnTo>
                  <a:pt x="5305" y="34581"/>
                </a:lnTo>
                <a:cubicBezTo>
                  <a:pt x="5263" y="35151"/>
                  <a:pt x="5664" y="35436"/>
                  <a:pt x="6066" y="35436"/>
                </a:cubicBezTo>
                <a:cubicBezTo>
                  <a:pt x="6467" y="35436"/>
                  <a:pt x="6868" y="35151"/>
                  <a:pt x="6826" y="34581"/>
                </a:cubicBezTo>
                <a:lnTo>
                  <a:pt x="6953" y="10246"/>
                </a:lnTo>
                <a:cubicBezTo>
                  <a:pt x="7037" y="10162"/>
                  <a:pt x="7164" y="10119"/>
                  <a:pt x="7206" y="9993"/>
                </a:cubicBezTo>
                <a:lnTo>
                  <a:pt x="11600" y="4036"/>
                </a:lnTo>
                <a:cubicBezTo>
                  <a:pt x="11854" y="3698"/>
                  <a:pt x="11811" y="3191"/>
                  <a:pt x="11473" y="2979"/>
                </a:cubicBezTo>
                <a:cubicBezTo>
                  <a:pt x="11336" y="2877"/>
                  <a:pt x="11178" y="2829"/>
                  <a:pt x="11022" y="2829"/>
                </a:cubicBezTo>
                <a:cubicBezTo>
                  <a:pt x="10793" y="2829"/>
                  <a:pt x="10568" y="2931"/>
                  <a:pt x="10417" y="3106"/>
                </a:cubicBezTo>
                <a:lnTo>
                  <a:pt x="6995" y="7796"/>
                </a:lnTo>
                <a:lnTo>
                  <a:pt x="6995" y="825"/>
                </a:lnTo>
                <a:cubicBezTo>
                  <a:pt x="7059" y="276"/>
                  <a:pt x="6657" y="1"/>
                  <a:pt x="6251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173487" y="2563044"/>
            <a:ext cx="1038447" cy="1346943"/>
          </a:xfrm>
          <a:custGeom>
            <a:avLst/>
            <a:gdLst/>
            <a:ahLst/>
            <a:cxnLst/>
            <a:rect l="l" t="t" r="r" b="b"/>
            <a:pathLst>
              <a:path w="34897" h="45264" extrusionOk="0">
                <a:moveTo>
                  <a:pt x="17276" y="0"/>
                </a:moveTo>
                <a:cubicBezTo>
                  <a:pt x="7751" y="0"/>
                  <a:pt x="0" y="7161"/>
                  <a:pt x="0" y="16027"/>
                </a:cubicBezTo>
                <a:cubicBezTo>
                  <a:pt x="0" y="19703"/>
                  <a:pt x="1310" y="23294"/>
                  <a:pt x="3760" y="26082"/>
                </a:cubicBezTo>
                <a:cubicBezTo>
                  <a:pt x="5619" y="28152"/>
                  <a:pt x="6464" y="30898"/>
                  <a:pt x="6168" y="33687"/>
                </a:cubicBezTo>
                <a:cubicBezTo>
                  <a:pt x="6084" y="34194"/>
                  <a:pt x="6084" y="34701"/>
                  <a:pt x="6084" y="35208"/>
                </a:cubicBezTo>
                <a:cubicBezTo>
                  <a:pt x="6251" y="40775"/>
                  <a:pt x="11271" y="45264"/>
                  <a:pt x="17281" y="45264"/>
                </a:cubicBezTo>
                <a:cubicBezTo>
                  <a:pt x="17337" y="45264"/>
                  <a:pt x="17393" y="45263"/>
                  <a:pt x="17449" y="45263"/>
                </a:cubicBezTo>
                <a:cubicBezTo>
                  <a:pt x="23490" y="45136"/>
                  <a:pt x="28391" y="40573"/>
                  <a:pt x="28391" y="34912"/>
                </a:cubicBezTo>
                <a:lnTo>
                  <a:pt x="28391" y="34236"/>
                </a:lnTo>
                <a:cubicBezTo>
                  <a:pt x="28180" y="31109"/>
                  <a:pt x="29151" y="28025"/>
                  <a:pt x="31095" y="25617"/>
                </a:cubicBezTo>
                <a:cubicBezTo>
                  <a:pt x="33714" y="22364"/>
                  <a:pt x="34897" y="18224"/>
                  <a:pt x="34390" y="14084"/>
                </a:cubicBezTo>
                <a:cubicBezTo>
                  <a:pt x="33460" y="6775"/>
                  <a:pt x="27166" y="944"/>
                  <a:pt x="19223" y="99"/>
                </a:cubicBezTo>
                <a:cubicBezTo>
                  <a:pt x="18567" y="33"/>
                  <a:pt x="17917" y="0"/>
                  <a:pt x="172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483263" y="3078920"/>
            <a:ext cx="409344" cy="1546378"/>
          </a:xfrm>
          <a:custGeom>
            <a:avLst/>
            <a:gdLst/>
            <a:ahLst/>
            <a:cxnLst/>
            <a:rect l="l" t="t" r="r" b="b"/>
            <a:pathLst>
              <a:path w="13756" h="51966" extrusionOk="0">
                <a:moveTo>
                  <a:pt x="6954" y="1"/>
                </a:moveTo>
                <a:cubicBezTo>
                  <a:pt x="6574" y="1"/>
                  <a:pt x="6320" y="296"/>
                  <a:pt x="6320" y="634"/>
                </a:cubicBezTo>
                <a:lnTo>
                  <a:pt x="6320" y="9887"/>
                </a:lnTo>
                <a:lnTo>
                  <a:pt x="1673" y="3549"/>
                </a:lnTo>
                <a:cubicBezTo>
                  <a:pt x="1543" y="3336"/>
                  <a:pt x="1360" y="3249"/>
                  <a:pt x="1176" y="3249"/>
                </a:cubicBezTo>
                <a:cubicBezTo>
                  <a:pt x="705" y="3249"/>
                  <a:pt x="233" y="3823"/>
                  <a:pt x="659" y="4310"/>
                </a:cubicBezTo>
                <a:lnTo>
                  <a:pt x="5940" y="11577"/>
                </a:lnTo>
                <a:cubicBezTo>
                  <a:pt x="6025" y="11703"/>
                  <a:pt x="6151" y="11788"/>
                  <a:pt x="6320" y="11830"/>
                </a:cubicBezTo>
                <a:lnTo>
                  <a:pt x="6320" y="17069"/>
                </a:lnTo>
                <a:lnTo>
                  <a:pt x="1293" y="11112"/>
                </a:lnTo>
                <a:cubicBezTo>
                  <a:pt x="1160" y="10979"/>
                  <a:pt x="1010" y="10923"/>
                  <a:pt x="865" y="10923"/>
                </a:cubicBezTo>
                <a:cubicBezTo>
                  <a:pt x="409" y="10923"/>
                  <a:pt x="1" y="11476"/>
                  <a:pt x="321" y="11957"/>
                </a:cubicBezTo>
                <a:lnTo>
                  <a:pt x="6320" y="19012"/>
                </a:lnTo>
                <a:lnTo>
                  <a:pt x="6320" y="51332"/>
                </a:lnTo>
                <a:cubicBezTo>
                  <a:pt x="6278" y="51670"/>
                  <a:pt x="6574" y="51966"/>
                  <a:pt x="6954" y="51966"/>
                </a:cubicBezTo>
                <a:cubicBezTo>
                  <a:pt x="7292" y="51966"/>
                  <a:pt x="7546" y="51670"/>
                  <a:pt x="7546" y="51332"/>
                </a:cubicBezTo>
                <a:lnTo>
                  <a:pt x="7546" y="19012"/>
                </a:lnTo>
                <a:lnTo>
                  <a:pt x="13545" y="11915"/>
                </a:lnTo>
                <a:cubicBezTo>
                  <a:pt x="13756" y="11661"/>
                  <a:pt x="13714" y="11281"/>
                  <a:pt x="13460" y="11027"/>
                </a:cubicBezTo>
                <a:cubicBezTo>
                  <a:pt x="13351" y="10936"/>
                  <a:pt x="13210" y="10892"/>
                  <a:pt x="13068" y="10892"/>
                </a:cubicBezTo>
                <a:cubicBezTo>
                  <a:pt x="12881" y="10892"/>
                  <a:pt x="12693" y="10968"/>
                  <a:pt x="12573" y="11112"/>
                </a:cubicBezTo>
                <a:lnTo>
                  <a:pt x="7588" y="17069"/>
                </a:lnTo>
                <a:lnTo>
                  <a:pt x="7588" y="11788"/>
                </a:lnTo>
                <a:cubicBezTo>
                  <a:pt x="7715" y="11788"/>
                  <a:pt x="7841" y="11703"/>
                  <a:pt x="7926" y="11577"/>
                </a:cubicBezTo>
                <a:lnTo>
                  <a:pt x="13207" y="4310"/>
                </a:lnTo>
                <a:cubicBezTo>
                  <a:pt x="13515" y="3816"/>
                  <a:pt x="13103" y="3323"/>
                  <a:pt x="12660" y="3323"/>
                </a:cubicBezTo>
                <a:cubicBezTo>
                  <a:pt x="12497" y="3323"/>
                  <a:pt x="12330" y="3390"/>
                  <a:pt x="12193" y="3549"/>
                </a:cubicBezTo>
                <a:lnTo>
                  <a:pt x="7588" y="9887"/>
                </a:lnTo>
                <a:lnTo>
                  <a:pt x="7588" y="634"/>
                </a:lnTo>
                <a:cubicBezTo>
                  <a:pt x="7588" y="296"/>
                  <a:pt x="7292" y="1"/>
                  <a:pt x="6954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695225" y="2865202"/>
            <a:ext cx="1982593" cy="667610"/>
          </a:xfrm>
          <a:custGeom>
            <a:avLst/>
            <a:gdLst/>
            <a:ahLst/>
            <a:cxnLst/>
            <a:rect l="l" t="t" r="r" b="b"/>
            <a:pathLst>
              <a:path w="66625" h="22435" extrusionOk="0">
                <a:moveTo>
                  <a:pt x="21462" y="0"/>
                </a:moveTo>
                <a:lnTo>
                  <a:pt x="0" y="22434"/>
                </a:lnTo>
                <a:lnTo>
                  <a:pt x="44825" y="22434"/>
                </a:lnTo>
                <a:lnTo>
                  <a:pt x="66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029105" y="2862672"/>
            <a:ext cx="1361554" cy="784527"/>
          </a:xfrm>
          <a:custGeom>
            <a:avLst/>
            <a:gdLst/>
            <a:ahLst/>
            <a:cxnLst/>
            <a:rect l="l" t="t" r="r" b="b"/>
            <a:pathLst>
              <a:path w="45755" h="26364" extrusionOk="0">
                <a:moveTo>
                  <a:pt x="21927" y="1"/>
                </a:moveTo>
                <a:lnTo>
                  <a:pt x="21800" y="85"/>
                </a:lnTo>
                <a:lnTo>
                  <a:pt x="0" y="22519"/>
                </a:lnTo>
                <a:lnTo>
                  <a:pt x="3845" y="26364"/>
                </a:lnTo>
                <a:lnTo>
                  <a:pt x="23617" y="7437"/>
                </a:lnTo>
                <a:lnTo>
                  <a:pt x="42501" y="26364"/>
                </a:lnTo>
                <a:lnTo>
                  <a:pt x="45755" y="23111"/>
                </a:lnTo>
                <a:lnTo>
                  <a:pt x="2192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680138" y="3532782"/>
            <a:ext cx="1463385" cy="114418"/>
          </a:xfrm>
          <a:custGeom>
            <a:avLst/>
            <a:gdLst/>
            <a:ahLst/>
            <a:cxnLst/>
            <a:rect l="l" t="t" r="r" b="b"/>
            <a:pathLst>
              <a:path w="49177" h="3845" extrusionOk="0">
                <a:moveTo>
                  <a:pt x="0" y="0"/>
                </a:moveTo>
                <a:lnTo>
                  <a:pt x="3338" y="3845"/>
                </a:lnTo>
                <a:lnTo>
                  <a:pt x="49177" y="3845"/>
                </a:lnTo>
                <a:lnTo>
                  <a:pt x="453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7135965" y="3078920"/>
            <a:ext cx="1142807" cy="1469693"/>
          </a:xfrm>
          <a:custGeom>
            <a:avLst/>
            <a:gdLst/>
            <a:ahLst/>
            <a:cxnLst/>
            <a:rect l="l" t="t" r="r" b="b"/>
            <a:pathLst>
              <a:path w="38404" h="49389" extrusionOk="0">
                <a:moveTo>
                  <a:pt x="19857" y="1"/>
                </a:moveTo>
                <a:lnTo>
                  <a:pt x="254" y="18590"/>
                </a:lnTo>
                <a:lnTo>
                  <a:pt x="0" y="19054"/>
                </a:lnTo>
                <a:lnTo>
                  <a:pt x="0" y="49389"/>
                </a:lnTo>
                <a:lnTo>
                  <a:pt x="38403" y="49135"/>
                </a:lnTo>
                <a:lnTo>
                  <a:pt x="38403" y="18843"/>
                </a:lnTo>
                <a:lnTo>
                  <a:pt x="38403" y="18590"/>
                </a:lnTo>
                <a:lnTo>
                  <a:pt x="198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7480437" y="3824435"/>
            <a:ext cx="261509" cy="163458"/>
          </a:xfrm>
          <a:custGeom>
            <a:avLst/>
            <a:gdLst/>
            <a:ahLst/>
            <a:cxnLst/>
            <a:rect l="l" t="t" r="r" b="b"/>
            <a:pathLst>
              <a:path w="8788" h="5493" extrusionOk="0">
                <a:moveTo>
                  <a:pt x="803" y="1"/>
                </a:moveTo>
                <a:cubicBezTo>
                  <a:pt x="338" y="1"/>
                  <a:pt x="0" y="339"/>
                  <a:pt x="0" y="803"/>
                </a:cubicBezTo>
                <a:lnTo>
                  <a:pt x="0" y="5493"/>
                </a:lnTo>
                <a:lnTo>
                  <a:pt x="8788" y="5493"/>
                </a:lnTo>
                <a:lnTo>
                  <a:pt x="8788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480437" y="4053240"/>
            <a:ext cx="261509" cy="174796"/>
          </a:xfrm>
          <a:custGeom>
            <a:avLst/>
            <a:gdLst/>
            <a:ahLst/>
            <a:cxnLst/>
            <a:rect l="l" t="t" r="r" b="b"/>
            <a:pathLst>
              <a:path w="8788" h="5874" extrusionOk="0">
                <a:moveTo>
                  <a:pt x="0" y="1"/>
                </a:moveTo>
                <a:lnTo>
                  <a:pt x="0" y="5028"/>
                </a:lnTo>
                <a:cubicBezTo>
                  <a:pt x="0" y="5493"/>
                  <a:pt x="338" y="5831"/>
                  <a:pt x="803" y="5873"/>
                </a:cubicBezTo>
                <a:lnTo>
                  <a:pt x="8788" y="5873"/>
                </a:lnTo>
                <a:lnTo>
                  <a:pt x="8788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7807294" y="3824435"/>
            <a:ext cx="241423" cy="163458"/>
          </a:xfrm>
          <a:custGeom>
            <a:avLst/>
            <a:gdLst/>
            <a:ahLst/>
            <a:cxnLst/>
            <a:rect l="l" t="t" r="r" b="b"/>
            <a:pathLst>
              <a:path w="8113" h="5493" extrusionOk="0">
                <a:moveTo>
                  <a:pt x="0" y="1"/>
                </a:moveTo>
                <a:lnTo>
                  <a:pt x="0" y="5493"/>
                </a:lnTo>
                <a:lnTo>
                  <a:pt x="8112" y="5493"/>
                </a:lnTo>
                <a:lnTo>
                  <a:pt x="8112" y="803"/>
                </a:lnTo>
                <a:cubicBezTo>
                  <a:pt x="8112" y="339"/>
                  <a:pt x="7732" y="1"/>
                  <a:pt x="7267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7807294" y="4053240"/>
            <a:ext cx="241423" cy="173546"/>
          </a:xfrm>
          <a:custGeom>
            <a:avLst/>
            <a:gdLst/>
            <a:ahLst/>
            <a:cxnLst/>
            <a:rect l="l" t="t" r="r" b="b"/>
            <a:pathLst>
              <a:path w="8113" h="5832" extrusionOk="0">
                <a:moveTo>
                  <a:pt x="0" y="1"/>
                </a:moveTo>
                <a:lnTo>
                  <a:pt x="0" y="5831"/>
                </a:lnTo>
                <a:lnTo>
                  <a:pt x="7267" y="5831"/>
                </a:lnTo>
                <a:cubicBezTo>
                  <a:pt x="7732" y="5831"/>
                  <a:pt x="8112" y="5493"/>
                  <a:pt x="8112" y="5028"/>
                </a:cubicBezTo>
                <a:lnTo>
                  <a:pt x="8112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786998" y="3639641"/>
            <a:ext cx="1348997" cy="908973"/>
          </a:xfrm>
          <a:custGeom>
            <a:avLst/>
            <a:gdLst/>
            <a:ahLst/>
            <a:cxnLst/>
            <a:rect l="l" t="t" r="r" b="b"/>
            <a:pathLst>
              <a:path w="45333" h="30546" extrusionOk="0">
                <a:moveTo>
                  <a:pt x="0" y="0"/>
                </a:moveTo>
                <a:lnTo>
                  <a:pt x="0" y="30546"/>
                </a:lnTo>
                <a:lnTo>
                  <a:pt x="45332" y="30546"/>
                </a:lnTo>
                <a:lnTo>
                  <a:pt x="4533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313735" y="3972776"/>
            <a:ext cx="270347" cy="568309"/>
          </a:xfrm>
          <a:custGeom>
            <a:avLst/>
            <a:gdLst/>
            <a:ahLst/>
            <a:cxnLst/>
            <a:rect l="l" t="t" r="r" b="b"/>
            <a:pathLst>
              <a:path w="9085" h="19098" extrusionOk="0">
                <a:moveTo>
                  <a:pt x="1015" y="1"/>
                </a:moveTo>
                <a:cubicBezTo>
                  <a:pt x="466" y="1"/>
                  <a:pt x="1" y="466"/>
                  <a:pt x="1" y="1015"/>
                </a:cubicBezTo>
                <a:lnTo>
                  <a:pt x="1" y="19097"/>
                </a:lnTo>
                <a:lnTo>
                  <a:pt x="9084" y="19097"/>
                </a:lnTo>
                <a:lnTo>
                  <a:pt x="9084" y="1015"/>
                </a:lnTo>
                <a:cubicBezTo>
                  <a:pt x="9084" y="466"/>
                  <a:pt x="8620" y="1"/>
                  <a:pt x="8070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6854340" y="3976555"/>
            <a:ext cx="114447" cy="94331"/>
          </a:xfrm>
          <a:custGeom>
            <a:avLst/>
            <a:gdLst/>
            <a:ahLst/>
            <a:cxnLst/>
            <a:rect l="l" t="t" r="r" b="b"/>
            <a:pathLst>
              <a:path w="3846" h="3170" extrusionOk="0">
                <a:moveTo>
                  <a:pt x="1" y="1"/>
                </a:moveTo>
                <a:lnTo>
                  <a:pt x="1" y="3169"/>
                </a:lnTo>
                <a:lnTo>
                  <a:pt x="3845" y="3127"/>
                </a:lnTo>
                <a:lnTo>
                  <a:pt x="3845" y="381"/>
                </a:lnTo>
                <a:cubicBezTo>
                  <a:pt x="3845" y="170"/>
                  <a:pt x="3718" y="1"/>
                  <a:pt x="3507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6713527" y="3976555"/>
            <a:ext cx="115697" cy="93081"/>
          </a:xfrm>
          <a:custGeom>
            <a:avLst/>
            <a:gdLst/>
            <a:ahLst/>
            <a:cxnLst/>
            <a:rect l="l" t="t" r="r" b="b"/>
            <a:pathLst>
              <a:path w="3888" h="3128" extrusionOk="0">
                <a:moveTo>
                  <a:pt x="381" y="1"/>
                </a:moveTo>
                <a:cubicBezTo>
                  <a:pt x="170" y="1"/>
                  <a:pt x="1" y="170"/>
                  <a:pt x="1" y="339"/>
                </a:cubicBezTo>
                <a:lnTo>
                  <a:pt x="1" y="3127"/>
                </a:lnTo>
                <a:lnTo>
                  <a:pt x="3888" y="3127"/>
                </a:lnTo>
                <a:lnTo>
                  <a:pt x="3888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6713527" y="4094752"/>
            <a:ext cx="115697" cy="94302"/>
          </a:xfrm>
          <a:custGeom>
            <a:avLst/>
            <a:gdLst/>
            <a:ahLst/>
            <a:cxnLst/>
            <a:rect l="l" t="t" r="r" b="b"/>
            <a:pathLst>
              <a:path w="3888" h="3169" extrusionOk="0">
                <a:moveTo>
                  <a:pt x="3888" y="0"/>
                </a:moveTo>
                <a:lnTo>
                  <a:pt x="1" y="42"/>
                </a:lnTo>
                <a:lnTo>
                  <a:pt x="1" y="2831"/>
                </a:lnTo>
                <a:cubicBezTo>
                  <a:pt x="1" y="3000"/>
                  <a:pt x="170" y="3169"/>
                  <a:pt x="381" y="3169"/>
                </a:cubicBezTo>
                <a:lnTo>
                  <a:pt x="3888" y="3169"/>
                </a:lnTo>
                <a:lnTo>
                  <a:pt x="3888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6854340" y="4096002"/>
            <a:ext cx="114447" cy="93052"/>
          </a:xfrm>
          <a:custGeom>
            <a:avLst/>
            <a:gdLst/>
            <a:ahLst/>
            <a:cxnLst/>
            <a:rect l="l" t="t" r="r" b="b"/>
            <a:pathLst>
              <a:path w="3846" h="3127" extrusionOk="0">
                <a:moveTo>
                  <a:pt x="1" y="0"/>
                </a:moveTo>
                <a:lnTo>
                  <a:pt x="1" y="3127"/>
                </a:lnTo>
                <a:lnTo>
                  <a:pt x="3507" y="3127"/>
                </a:lnTo>
                <a:cubicBezTo>
                  <a:pt x="3718" y="3127"/>
                  <a:pt x="3845" y="2958"/>
                  <a:pt x="3845" y="2789"/>
                </a:cubicBez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6067343" y="3976555"/>
            <a:ext cx="115697" cy="94331"/>
          </a:xfrm>
          <a:custGeom>
            <a:avLst/>
            <a:gdLst/>
            <a:ahLst/>
            <a:cxnLst/>
            <a:rect l="l" t="t" r="r" b="b"/>
            <a:pathLst>
              <a:path w="3888" h="3170" extrusionOk="0">
                <a:moveTo>
                  <a:pt x="0" y="1"/>
                </a:moveTo>
                <a:lnTo>
                  <a:pt x="0" y="3169"/>
                </a:lnTo>
                <a:lnTo>
                  <a:pt x="3887" y="3127"/>
                </a:lnTo>
                <a:lnTo>
                  <a:pt x="3887" y="381"/>
                </a:lnTo>
                <a:cubicBezTo>
                  <a:pt x="3845" y="170"/>
                  <a:pt x="3718" y="1"/>
                  <a:pt x="3507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6067343" y="4096002"/>
            <a:ext cx="114418" cy="93052"/>
          </a:xfrm>
          <a:custGeom>
            <a:avLst/>
            <a:gdLst/>
            <a:ahLst/>
            <a:cxnLst/>
            <a:rect l="l" t="t" r="r" b="b"/>
            <a:pathLst>
              <a:path w="3845" h="3127" extrusionOk="0">
                <a:moveTo>
                  <a:pt x="0" y="0"/>
                </a:moveTo>
                <a:lnTo>
                  <a:pt x="0" y="3127"/>
                </a:lnTo>
                <a:lnTo>
                  <a:pt x="3507" y="3127"/>
                </a:lnTo>
                <a:cubicBezTo>
                  <a:pt x="3676" y="3127"/>
                  <a:pt x="3845" y="2958"/>
                  <a:pt x="3845" y="2789"/>
                </a:cubicBez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5926531" y="3976555"/>
            <a:ext cx="114447" cy="93081"/>
          </a:xfrm>
          <a:custGeom>
            <a:avLst/>
            <a:gdLst/>
            <a:ahLst/>
            <a:cxnLst/>
            <a:rect l="l" t="t" r="r" b="b"/>
            <a:pathLst>
              <a:path w="3846" h="3128" extrusionOk="0">
                <a:moveTo>
                  <a:pt x="381" y="1"/>
                </a:moveTo>
                <a:cubicBezTo>
                  <a:pt x="170" y="1"/>
                  <a:pt x="1" y="170"/>
                  <a:pt x="1" y="339"/>
                </a:cubicBezTo>
                <a:lnTo>
                  <a:pt x="1" y="3127"/>
                </a:lnTo>
                <a:lnTo>
                  <a:pt x="3845" y="3127"/>
                </a:lnTo>
                <a:lnTo>
                  <a:pt x="3845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5926531" y="4094752"/>
            <a:ext cx="114447" cy="94302"/>
          </a:xfrm>
          <a:custGeom>
            <a:avLst/>
            <a:gdLst/>
            <a:ahLst/>
            <a:cxnLst/>
            <a:rect l="l" t="t" r="r" b="b"/>
            <a:pathLst>
              <a:path w="3846" h="3169" extrusionOk="0">
                <a:moveTo>
                  <a:pt x="3845" y="0"/>
                </a:moveTo>
                <a:lnTo>
                  <a:pt x="1" y="42"/>
                </a:lnTo>
                <a:lnTo>
                  <a:pt x="1" y="2831"/>
                </a:lnTo>
                <a:cubicBezTo>
                  <a:pt x="1" y="3000"/>
                  <a:pt x="170" y="3169"/>
                  <a:pt x="381" y="3169"/>
                </a:cubicBezTo>
                <a:lnTo>
                  <a:pt x="3845" y="3169"/>
                </a:ln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4616541" y="4546074"/>
            <a:ext cx="4972210" cy="667574"/>
          </a:xfrm>
          <a:custGeom>
            <a:avLst/>
            <a:gdLst/>
            <a:ahLst/>
            <a:cxnLst/>
            <a:rect l="l" t="t" r="r" b="b"/>
            <a:pathLst>
              <a:path w="167091" h="20111" extrusionOk="0">
                <a:moveTo>
                  <a:pt x="18547" y="0"/>
                </a:moveTo>
                <a:cubicBezTo>
                  <a:pt x="8323" y="0"/>
                  <a:pt x="0" y="8323"/>
                  <a:pt x="0" y="18589"/>
                </a:cubicBezTo>
                <a:lnTo>
                  <a:pt x="0" y="20110"/>
                </a:lnTo>
                <a:lnTo>
                  <a:pt x="167091" y="20110"/>
                </a:lnTo>
                <a:lnTo>
                  <a:pt x="167091" y="18589"/>
                </a:lnTo>
                <a:cubicBezTo>
                  <a:pt x="167091" y="8323"/>
                  <a:pt x="158768" y="0"/>
                  <a:pt x="1485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5280346" y="4939567"/>
            <a:ext cx="3542779" cy="426217"/>
          </a:xfrm>
          <a:custGeom>
            <a:avLst/>
            <a:gdLst/>
            <a:ahLst/>
            <a:cxnLst/>
            <a:rect l="l" t="t" r="r" b="b"/>
            <a:pathLst>
              <a:path w="119055" h="14323" extrusionOk="0">
                <a:moveTo>
                  <a:pt x="13224" y="1"/>
                </a:moveTo>
                <a:cubicBezTo>
                  <a:pt x="5915" y="1"/>
                  <a:pt x="0" y="5915"/>
                  <a:pt x="0" y="13224"/>
                </a:cubicBezTo>
                <a:lnTo>
                  <a:pt x="0" y="14323"/>
                </a:lnTo>
                <a:lnTo>
                  <a:pt x="119055" y="14323"/>
                </a:lnTo>
                <a:lnTo>
                  <a:pt x="119055" y="13224"/>
                </a:lnTo>
                <a:cubicBezTo>
                  <a:pt x="119055" y="5915"/>
                  <a:pt x="113098" y="1"/>
                  <a:pt x="10578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8041128" y="4205539"/>
            <a:ext cx="668859" cy="867342"/>
          </a:xfrm>
          <a:custGeom>
            <a:avLst/>
            <a:gdLst/>
            <a:ahLst/>
            <a:cxnLst/>
            <a:rect l="l" t="t" r="r" b="b"/>
            <a:pathLst>
              <a:path w="22477" h="29147" extrusionOk="0">
                <a:moveTo>
                  <a:pt x="11078" y="1"/>
                </a:moveTo>
                <a:cubicBezTo>
                  <a:pt x="4980" y="1"/>
                  <a:pt x="40" y="4601"/>
                  <a:pt x="1" y="10261"/>
                </a:cubicBezTo>
                <a:cubicBezTo>
                  <a:pt x="1" y="12627"/>
                  <a:pt x="846" y="14908"/>
                  <a:pt x="2409" y="16725"/>
                </a:cubicBezTo>
                <a:cubicBezTo>
                  <a:pt x="3592" y="18077"/>
                  <a:pt x="4141" y="19851"/>
                  <a:pt x="3930" y="21626"/>
                </a:cubicBezTo>
                <a:cubicBezTo>
                  <a:pt x="3887" y="21964"/>
                  <a:pt x="3845" y="22302"/>
                  <a:pt x="3887" y="22640"/>
                </a:cubicBezTo>
                <a:cubicBezTo>
                  <a:pt x="3971" y="26247"/>
                  <a:pt x="7179" y="29146"/>
                  <a:pt x="11070" y="29146"/>
                </a:cubicBezTo>
                <a:cubicBezTo>
                  <a:pt x="11098" y="29146"/>
                  <a:pt x="11126" y="29146"/>
                  <a:pt x="11154" y="29146"/>
                </a:cubicBezTo>
                <a:cubicBezTo>
                  <a:pt x="15041" y="29104"/>
                  <a:pt x="18209" y="26146"/>
                  <a:pt x="18252" y="22513"/>
                </a:cubicBezTo>
                <a:lnTo>
                  <a:pt x="18252" y="22048"/>
                </a:lnTo>
                <a:cubicBezTo>
                  <a:pt x="18125" y="20063"/>
                  <a:pt x="18759" y="18077"/>
                  <a:pt x="20026" y="16514"/>
                </a:cubicBezTo>
                <a:cubicBezTo>
                  <a:pt x="21716" y="14444"/>
                  <a:pt x="22476" y="11782"/>
                  <a:pt x="22181" y="9120"/>
                </a:cubicBezTo>
                <a:cubicBezTo>
                  <a:pt x="21589" y="4346"/>
                  <a:pt x="17533" y="629"/>
                  <a:pt x="12464" y="79"/>
                </a:cubicBezTo>
                <a:cubicBezTo>
                  <a:pt x="11996" y="26"/>
                  <a:pt x="11534" y="1"/>
                  <a:pt x="1107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8230832" y="4537276"/>
            <a:ext cx="272966" cy="820027"/>
          </a:xfrm>
          <a:custGeom>
            <a:avLst/>
            <a:gdLst/>
            <a:ahLst/>
            <a:cxnLst/>
            <a:rect l="l" t="t" r="r" b="b"/>
            <a:pathLst>
              <a:path w="9173" h="27557" extrusionOk="0">
                <a:moveTo>
                  <a:pt x="4779" y="0"/>
                </a:moveTo>
                <a:cubicBezTo>
                  <a:pt x="4462" y="0"/>
                  <a:pt x="4145" y="212"/>
                  <a:pt x="4188" y="634"/>
                </a:cubicBezTo>
                <a:lnTo>
                  <a:pt x="4145" y="10731"/>
                </a:lnTo>
                <a:lnTo>
                  <a:pt x="1272" y="7267"/>
                </a:lnTo>
                <a:cubicBezTo>
                  <a:pt x="1139" y="7112"/>
                  <a:pt x="980" y="7047"/>
                  <a:pt x="826" y="7047"/>
                </a:cubicBezTo>
                <a:cubicBezTo>
                  <a:pt x="393" y="7047"/>
                  <a:pt x="0" y="7560"/>
                  <a:pt x="343" y="8027"/>
                </a:cubicBezTo>
                <a:lnTo>
                  <a:pt x="4145" y="12548"/>
                </a:lnTo>
                <a:lnTo>
                  <a:pt x="4061" y="26955"/>
                </a:lnTo>
                <a:cubicBezTo>
                  <a:pt x="4040" y="27356"/>
                  <a:pt x="4335" y="27557"/>
                  <a:pt x="4636" y="27557"/>
                </a:cubicBezTo>
                <a:cubicBezTo>
                  <a:pt x="4937" y="27557"/>
                  <a:pt x="5244" y="27356"/>
                  <a:pt x="5244" y="26955"/>
                </a:cubicBezTo>
                <a:lnTo>
                  <a:pt x="5328" y="7985"/>
                </a:lnTo>
                <a:cubicBezTo>
                  <a:pt x="5413" y="7943"/>
                  <a:pt x="5455" y="7858"/>
                  <a:pt x="5539" y="7816"/>
                </a:cubicBezTo>
                <a:lnTo>
                  <a:pt x="8962" y="3127"/>
                </a:lnTo>
                <a:cubicBezTo>
                  <a:pt x="9173" y="2873"/>
                  <a:pt x="9088" y="2493"/>
                  <a:pt x="8835" y="2324"/>
                </a:cubicBezTo>
                <a:cubicBezTo>
                  <a:pt x="8729" y="2236"/>
                  <a:pt x="8602" y="2192"/>
                  <a:pt x="8476" y="2192"/>
                </a:cubicBezTo>
                <a:cubicBezTo>
                  <a:pt x="8301" y="2192"/>
                  <a:pt x="8131" y="2278"/>
                  <a:pt x="8032" y="2451"/>
                </a:cubicBezTo>
                <a:lnTo>
                  <a:pt x="5371" y="6042"/>
                </a:lnTo>
                <a:lnTo>
                  <a:pt x="5371" y="634"/>
                </a:lnTo>
                <a:cubicBezTo>
                  <a:pt x="5413" y="212"/>
                  <a:pt x="5096" y="0"/>
                  <a:pt x="4779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7624999" y="4556886"/>
            <a:ext cx="465199" cy="602738"/>
          </a:xfrm>
          <a:custGeom>
            <a:avLst/>
            <a:gdLst/>
            <a:ahLst/>
            <a:cxnLst/>
            <a:rect l="l" t="t" r="r" b="b"/>
            <a:pathLst>
              <a:path w="15633" h="20255" extrusionOk="0">
                <a:moveTo>
                  <a:pt x="7962" y="1"/>
                </a:moveTo>
                <a:cubicBezTo>
                  <a:pt x="7636" y="1"/>
                  <a:pt x="7306" y="20"/>
                  <a:pt x="6971" y="60"/>
                </a:cubicBezTo>
                <a:cubicBezTo>
                  <a:pt x="3423" y="440"/>
                  <a:pt x="592" y="3059"/>
                  <a:pt x="212" y="6354"/>
                </a:cubicBezTo>
                <a:cubicBezTo>
                  <a:pt x="1" y="8171"/>
                  <a:pt x="550" y="10030"/>
                  <a:pt x="1690" y="11466"/>
                </a:cubicBezTo>
                <a:cubicBezTo>
                  <a:pt x="2578" y="12565"/>
                  <a:pt x="3042" y="13959"/>
                  <a:pt x="2958" y="15353"/>
                </a:cubicBezTo>
                <a:lnTo>
                  <a:pt x="2958" y="15649"/>
                </a:lnTo>
                <a:cubicBezTo>
                  <a:pt x="2958" y="18184"/>
                  <a:pt x="5155" y="20212"/>
                  <a:pt x="7859" y="20254"/>
                </a:cubicBezTo>
                <a:cubicBezTo>
                  <a:pt x="7887" y="20255"/>
                  <a:pt x="7915" y="20255"/>
                  <a:pt x="7943" y="20255"/>
                </a:cubicBezTo>
                <a:cubicBezTo>
                  <a:pt x="10650" y="20255"/>
                  <a:pt x="12845" y="18242"/>
                  <a:pt x="12928" y="15734"/>
                </a:cubicBezTo>
                <a:cubicBezTo>
                  <a:pt x="12928" y="15480"/>
                  <a:pt x="12928" y="15269"/>
                  <a:pt x="12886" y="15058"/>
                </a:cubicBezTo>
                <a:cubicBezTo>
                  <a:pt x="12717" y="13790"/>
                  <a:pt x="13140" y="12565"/>
                  <a:pt x="13942" y="11635"/>
                </a:cubicBezTo>
                <a:cubicBezTo>
                  <a:pt x="15041" y="10368"/>
                  <a:pt x="15632" y="8763"/>
                  <a:pt x="15590" y="7115"/>
                </a:cubicBezTo>
                <a:cubicBezTo>
                  <a:pt x="15590" y="3194"/>
                  <a:pt x="12169" y="1"/>
                  <a:pt x="79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7768311" y="4788697"/>
            <a:ext cx="190627" cy="569559"/>
          </a:xfrm>
          <a:custGeom>
            <a:avLst/>
            <a:gdLst/>
            <a:ahLst/>
            <a:cxnLst/>
            <a:rect l="l" t="t" r="r" b="b"/>
            <a:pathLst>
              <a:path w="6406" h="19140" extrusionOk="0">
                <a:moveTo>
                  <a:pt x="3085" y="1"/>
                </a:moveTo>
                <a:cubicBezTo>
                  <a:pt x="2831" y="1"/>
                  <a:pt x="2662" y="170"/>
                  <a:pt x="2662" y="423"/>
                </a:cubicBezTo>
                <a:lnTo>
                  <a:pt x="2662" y="4183"/>
                </a:lnTo>
                <a:lnTo>
                  <a:pt x="804" y="1649"/>
                </a:lnTo>
                <a:cubicBezTo>
                  <a:pt x="727" y="1546"/>
                  <a:pt x="604" y="1490"/>
                  <a:pt x="471" y="1490"/>
                </a:cubicBezTo>
                <a:cubicBezTo>
                  <a:pt x="385" y="1490"/>
                  <a:pt x="295" y="1514"/>
                  <a:pt x="212" y="1564"/>
                </a:cubicBezTo>
                <a:cubicBezTo>
                  <a:pt x="43" y="1691"/>
                  <a:pt x="1" y="1987"/>
                  <a:pt x="128" y="2156"/>
                </a:cubicBezTo>
                <a:lnTo>
                  <a:pt x="2536" y="5409"/>
                </a:lnTo>
                <a:cubicBezTo>
                  <a:pt x="2578" y="5451"/>
                  <a:pt x="2620" y="5493"/>
                  <a:pt x="2662" y="5493"/>
                </a:cubicBezTo>
                <a:lnTo>
                  <a:pt x="2747" y="18717"/>
                </a:lnTo>
                <a:cubicBezTo>
                  <a:pt x="2747" y="18928"/>
                  <a:pt x="2916" y="19139"/>
                  <a:pt x="3127" y="19139"/>
                </a:cubicBezTo>
                <a:cubicBezTo>
                  <a:pt x="3381" y="19139"/>
                  <a:pt x="3550" y="18928"/>
                  <a:pt x="3550" y="18717"/>
                </a:cubicBezTo>
                <a:lnTo>
                  <a:pt x="3507" y="8704"/>
                </a:lnTo>
                <a:lnTo>
                  <a:pt x="6127" y="5535"/>
                </a:lnTo>
                <a:cubicBezTo>
                  <a:pt x="6406" y="5225"/>
                  <a:pt x="6139" y="4869"/>
                  <a:pt x="5843" y="4869"/>
                </a:cubicBezTo>
                <a:cubicBezTo>
                  <a:pt x="5736" y="4869"/>
                  <a:pt x="5625" y="4916"/>
                  <a:pt x="5535" y="5028"/>
                </a:cubicBezTo>
                <a:lnTo>
                  <a:pt x="3507" y="7394"/>
                </a:lnTo>
                <a:lnTo>
                  <a:pt x="3507" y="423"/>
                </a:lnTo>
                <a:cubicBezTo>
                  <a:pt x="3507" y="170"/>
                  <a:pt x="3296" y="1"/>
                  <a:pt x="3085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11972B8C-0AA5-EE58-F005-AEA9FC73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D6157ED-0FBF-2E9F-E38E-CE6D1798DD70}"/>
              </a:ext>
            </a:extLst>
          </p:cNvPr>
          <p:cNvSpPr/>
          <p:nvPr/>
        </p:nvSpPr>
        <p:spPr>
          <a:xfrm>
            <a:off x="1233072" y="3583223"/>
            <a:ext cx="6808749" cy="1276850"/>
          </a:xfrm>
          <a:prstGeom prst="roundRect">
            <a:avLst>
              <a:gd name="adj" fmla="val 5216"/>
            </a:avLst>
          </a:prstGeom>
          <a:solidFill>
            <a:schemeClr val="bg1">
              <a:lumMod val="85000"/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202" name="Google Shape;202;p18">
            <a:extLst>
              <a:ext uri="{FF2B5EF4-FFF2-40B4-BE49-F238E27FC236}">
                <a16:creationId xmlns:a16="http://schemas.microsoft.com/office/drawing/2014/main" id="{FA03CAFE-9781-40C4-94B0-271AF6D2417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PROBLEMA: Crisis de la Tasación Inmobiliaria </a:t>
            </a:r>
            <a:endParaRPr dirty="0"/>
          </a:p>
        </p:txBody>
      </p:sp>
      <p:sp>
        <p:nvSpPr>
          <p:cNvPr id="203" name="Google Shape;203;p18">
            <a:extLst>
              <a:ext uri="{FF2B5EF4-FFF2-40B4-BE49-F238E27FC236}">
                <a16:creationId xmlns:a16="http://schemas.microsoft.com/office/drawing/2014/main" id="{29C27A4A-4769-595F-6D58-6915529AE9D0}"/>
              </a:ext>
            </a:extLst>
          </p:cNvPr>
          <p:cNvSpPr txBox="1"/>
          <p:nvPr/>
        </p:nvSpPr>
        <p:spPr>
          <a:xfrm>
            <a:off x="735050" y="1287933"/>
            <a:ext cx="1845342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Tiempo de Espera</a:t>
            </a:r>
            <a:endParaRPr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4" name="Google Shape;204;p18">
            <a:extLst>
              <a:ext uri="{FF2B5EF4-FFF2-40B4-BE49-F238E27FC236}">
                <a16:creationId xmlns:a16="http://schemas.microsoft.com/office/drawing/2014/main" id="{CD2739DB-46C1-90FC-8B2E-FFF5FAF72C02}"/>
              </a:ext>
            </a:extLst>
          </p:cNvPr>
          <p:cNvSpPr txBox="1"/>
          <p:nvPr/>
        </p:nvSpPr>
        <p:spPr>
          <a:xfrm>
            <a:off x="735050" y="1803930"/>
            <a:ext cx="1907100" cy="35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Entre 1 y 3 semanas</a:t>
            </a:r>
            <a:endParaRPr sz="12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6" name="Google Shape;206;p18">
            <a:extLst>
              <a:ext uri="{FF2B5EF4-FFF2-40B4-BE49-F238E27FC236}">
                <a16:creationId xmlns:a16="http://schemas.microsoft.com/office/drawing/2014/main" id="{3B62CAC1-EB29-EAD3-A202-A9E0699A4C88}"/>
              </a:ext>
            </a:extLst>
          </p:cNvPr>
          <p:cNvSpPr txBox="1"/>
          <p:nvPr/>
        </p:nvSpPr>
        <p:spPr>
          <a:xfrm>
            <a:off x="3750197" y="1448994"/>
            <a:ext cx="1343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Costo</a:t>
            </a:r>
            <a:endParaRPr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7" name="Google Shape;207;p18">
            <a:extLst>
              <a:ext uri="{FF2B5EF4-FFF2-40B4-BE49-F238E27FC236}">
                <a16:creationId xmlns:a16="http://schemas.microsoft.com/office/drawing/2014/main" id="{8D33A3D3-C48B-684B-EF8F-CCFF3AE78CDB}"/>
              </a:ext>
            </a:extLst>
          </p:cNvPr>
          <p:cNvSpPr txBox="1"/>
          <p:nvPr/>
        </p:nvSpPr>
        <p:spPr>
          <a:xfrm>
            <a:off x="3468347" y="1803930"/>
            <a:ext cx="1907100" cy="31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$350 – 500 USD por tasación</a:t>
            </a:r>
            <a:endParaRPr sz="12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8" name="Google Shape;208;p18">
            <a:extLst>
              <a:ext uri="{FF2B5EF4-FFF2-40B4-BE49-F238E27FC236}">
                <a16:creationId xmlns:a16="http://schemas.microsoft.com/office/drawing/2014/main" id="{DC576251-35D4-26E2-3417-7B23645116F0}"/>
              </a:ext>
            </a:extLst>
          </p:cNvPr>
          <p:cNvSpPr txBox="1"/>
          <p:nvPr/>
        </p:nvSpPr>
        <p:spPr>
          <a:xfrm>
            <a:off x="6283900" y="1287933"/>
            <a:ext cx="1803497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Escasez de Tasadores</a:t>
            </a:r>
            <a:endParaRPr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9" name="Google Shape;209;p18">
            <a:extLst>
              <a:ext uri="{FF2B5EF4-FFF2-40B4-BE49-F238E27FC236}">
                <a16:creationId xmlns:a16="http://schemas.microsoft.com/office/drawing/2014/main" id="{1027B830-1F7F-DADD-D12B-243378DE5B83}"/>
              </a:ext>
            </a:extLst>
          </p:cNvPr>
          <p:cNvSpPr txBox="1"/>
          <p:nvPr/>
        </p:nvSpPr>
        <p:spPr>
          <a:xfrm>
            <a:off x="6234500" y="1803930"/>
            <a:ext cx="1907100" cy="6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-3% anual</a:t>
            </a:r>
            <a:endParaRPr sz="12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18">
            <a:extLst>
              <a:ext uri="{FF2B5EF4-FFF2-40B4-BE49-F238E27FC236}">
                <a16:creationId xmlns:a16="http://schemas.microsoft.com/office/drawing/2014/main" id="{50EAF084-C962-37AF-A7E4-E56B740A1B35}"/>
              </a:ext>
            </a:extLst>
          </p:cNvPr>
          <p:cNvSpPr/>
          <p:nvPr/>
        </p:nvSpPr>
        <p:spPr>
          <a:xfrm>
            <a:off x="895475" y="2891307"/>
            <a:ext cx="8362659" cy="26126"/>
          </a:xfrm>
          <a:custGeom>
            <a:avLst/>
            <a:gdLst/>
            <a:ahLst/>
            <a:cxnLst/>
            <a:rect l="l" t="t" r="r" b="b"/>
            <a:pathLst>
              <a:path w="143713" h="2706" extrusionOk="0">
                <a:moveTo>
                  <a:pt x="0" y="0"/>
                </a:moveTo>
                <a:lnTo>
                  <a:pt x="0" y="2705"/>
                </a:lnTo>
                <a:lnTo>
                  <a:pt x="143712" y="2705"/>
                </a:lnTo>
                <a:lnTo>
                  <a:pt x="143712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8">
            <a:extLst>
              <a:ext uri="{FF2B5EF4-FFF2-40B4-BE49-F238E27FC236}">
                <a16:creationId xmlns:a16="http://schemas.microsoft.com/office/drawing/2014/main" id="{3A31DB83-9331-CFA8-FCBF-0BD5260B9A94}"/>
              </a:ext>
            </a:extLst>
          </p:cNvPr>
          <p:cNvSpPr/>
          <p:nvPr/>
        </p:nvSpPr>
        <p:spPr>
          <a:xfrm rot="-8100000">
            <a:off x="773185" y="2812305"/>
            <a:ext cx="184131" cy="184131"/>
          </a:xfrm>
          <a:prstGeom prst="rtTriangle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8">
            <a:extLst>
              <a:ext uri="{FF2B5EF4-FFF2-40B4-BE49-F238E27FC236}">
                <a16:creationId xmlns:a16="http://schemas.microsoft.com/office/drawing/2014/main" id="{F593D54B-14C3-A51D-DC0B-EB5CA920DAC1}"/>
              </a:ext>
            </a:extLst>
          </p:cNvPr>
          <p:cNvSpPr/>
          <p:nvPr/>
        </p:nvSpPr>
        <p:spPr>
          <a:xfrm rot="-8100000">
            <a:off x="3634310" y="2812318"/>
            <a:ext cx="184131" cy="184131"/>
          </a:xfrm>
          <a:prstGeom prst="rtTriangle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8">
            <a:extLst>
              <a:ext uri="{FF2B5EF4-FFF2-40B4-BE49-F238E27FC236}">
                <a16:creationId xmlns:a16="http://schemas.microsoft.com/office/drawing/2014/main" id="{CD706CA8-CD88-EE91-CC96-30854A9AE359}"/>
              </a:ext>
            </a:extLst>
          </p:cNvPr>
          <p:cNvSpPr/>
          <p:nvPr/>
        </p:nvSpPr>
        <p:spPr>
          <a:xfrm rot="-8100000">
            <a:off x="6272635" y="2812305"/>
            <a:ext cx="184131" cy="184131"/>
          </a:xfrm>
          <a:prstGeom prst="rtTriangle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8">
            <a:extLst>
              <a:ext uri="{FF2B5EF4-FFF2-40B4-BE49-F238E27FC236}">
                <a16:creationId xmlns:a16="http://schemas.microsoft.com/office/drawing/2014/main" id="{556D3C32-FF31-15BD-7E0D-9A70A6C5F9DF}"/>
              </a:ext>
            </a:extLst>
          </p:cNvPr>
          <p:cNvSpPr/>
          <p:nvPr/>
        </p:nvSpPr>
        <p:spPr>
          <a:xfrm rot="-8100000">
            <a:off x="8814085" y="2812305"/>
            <a:ext cx="184131" cy="184131"/>
          </a:xfrm>
          <a:prstGeom prst="rtTriangle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Schedule ">
            <a:extLst>
              <a:ext uri="{FF2B5EF4-FFF2-40B4-BE49-F238E27FC236}">
                <a16:creationId xmlns:a16="http://schemas.microsoft.com/office/drawing/2014/main" id="{90EB19F9-4B50-600C-19B7-2F1E785BF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951" y="2340006"/>
            <a:ext cx="970834" cy="97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lary ">
            <a:extLst>
              <a:ext uri="{FF2B5EF4-FFF2-40B4-BE49-F238E27FC236}">
                <a16:creationId xmlns:a16="http://schemas.microsoft.com/office/drawing/2014/main" id="{1CD3C82A-E65C-E99A-1F15-847C66812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124" y="2297169"/>
            <a:ext cx="930513" cy="93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bandoned cart ">
            <a:extLst>
              <a:ext uri="{FF2B5EF4-FFF2-40B4-BE49-F238E27FC236}">
                <a16:creationId xmlns:a16="http://schemas.microsoft.com/office/drawing/2014/main" id="{805A73FC-419B-4AD6-940A-F344DE48E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649" y="2236807"/>
            <a:ext cx="972000" cy="9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4DBA105-5114-4385-260C-57B6A345DE2F}"/>
              </a:ext>
            </a:extLst>
          </p:cNvPr>
          <p:cNvSpPr txBox="1"/>
          <p:nvPr/>
        </p:nvSpPr>
        <p:spPr>
          <a:xfrm>
            <a:off x="2337076" y="3893472"/>
            <a:ext cx="1879410" cy="39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spcAft>
                <a:spcPts val="1600"/>
              </a:spcAft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</a:lstStyle>
          <a:p>
            <a:r>
              <a:rPr lang="es-ES" sz="1600" b="1" dirty="0"/>
              <a:t>Desafíos del Mercado</a:t>
            </a:r>
            <a:endParaRPr lang="es-CO" sz="1600" dirty="0"/>
          </a:p>
        </p:txBody>
      </p:sp>
      <p:pic>
        <p:nvPicPr>
          <p:cNvPr id="5" name="Imagen 4" descr="Research ">
            <a:extLst>
              <a:ext uri="{FF2B5EF4-FFF2-40B4-BE49-F238E27FC236}">
                <a16:creationId xmlns:a16="http://schemas.microsoft.com/office/drawing/2014/main" id="{C5FBD26D-E588-30DB-C4D5-E1782EFF9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4007" y="3811719"/>
            <a:ext cx="810865" cy="81086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A2C6AAA-B9DD-831F-33CE-616954AA2B16}"/>
              </a:ext>
            </a:extLst>
          </p:cNvPr>
          <p:cNvSpPr txBox="1"/>
          <p:nvPr/>
        </p:nvSpPr>
        <p:spPr>
          <a:xfrm>
            <a:off x="4082560" y="3641684"/>
            <a:ext cx="3828368" cy="117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spcAft>
                <a:spcPts val="1600"/>
              </a:spcAft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</a:lstStyle>
          <a:p>
            <a:pPr marL="171450" algn="l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dirty="0"/>
              <a:t> Proceso lento limita volumen de transacciones</a:t>
            </a:r>
          </a:p>
          <a:p>
            <a:pPr marL="171450" algn="l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dirty="0"/>
              <a:t> Costo por tasación reduce evaluaciones frecuentes </a:t>
            </a:r>
          </a:p>
          <a:p>
            <a:pPr marL="171450" algn="l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dirty="0"/>
              <a:t> Escasez: 20% menos tasadores en última década </a:t>
            </a:r>
          </a:p>
          <a:p>
            <a:pPr marL="171450" algn="l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dirty="0"/>
              <a:t> Certificación requiere 2+ años de entrenamiento</a:t>
            </a:r>
          </a:p>
          <a:p>
            <a:pPr marL="171450" algn="l">
              <a:spcAft>
                <a:spcPts val="100"/>
              </a:spcAft>
            </a:pPr>
            <a:r>
              <a:rPr lang="es-ES" dirty="0"/>
              <a:t>• Mercado necesita soluciones escalables</a:t>
            </a:r>
          </a:p>
          <a:p>
            <a:pPr marL="171450" algn="l">
              <a:spcAft>
                <a:spcPts val="100"/>
              </a:spcAft>
            </a:pPr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AE7616-5A0E-62CF-9C20-239EC44EE041}"/>
              </a:ext>
            </a:extLst>
          </p:cNvPr>
          <p:cNvSpPr txBox="1"/>
          <p:nvPr/>
        </p:nvSpPr>
        <p:spPr>
          <a:xfrm>
            <a:off x="6577763" y="4605857"/>
            <a:ext cx="1563837" cy="30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71450" indent="0">
              <a:spcAft>
                <a:spcPts val="100"/>
              </a:spcAft>
              <a:buFont typeface="Arial" panose="020B0604020202020204" pitchFamily="34" charset="0"/>
              <a:buChar char="•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</a:lstStyle>
          <a:p>
            <a:pPr>
              <a:buNone/>
            </a:pPr>
            <a:r>
              <a:rPr lang="es-ES" sz="900" dirty="0"/>
              <a:t>Referencias [1] [2] [3] [4]</a:t>
            </a:r>
            <a:endParaRPr lang="es-CO" sz="900" dirty="0"/>
          </a:p>
        </p:txBody>
      </p:sp>
    </p:spTree>
    <p:extLst>
      <p:ext uri="{BB962C8B-B14F-4D97-AF65-F5344CB8AC3E}">
        <p14:creationId xmlns:p14="http://schemas.microsoft.com/office/powerpoint/2010/main" val="289794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CFB0A57-0C68-020E-97A7-BC5363209578}"/>
              </a:ext>
            </a:extLst>
          </p:cNvPr>
          <p:cNvSpPr/>
          <p:nvPr/>
        </p:nvSpPr>
        <p:spPr>
          <a:xfrm>
            <a:off x="6050585" y="1158472"/>
            <a:ext cx="2696928" cy="3049544"/>
          </a:xfrm>
          <a:prstGeom prst="roundRect">
            <a:avLst>
              <a:gd name="adj" fmla="val 4570"/>
            </a:avLst>
          </a:prstGeom>
          <a:solidFill>
            <a:schemeClr val="accent1"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D4C346DB-A848-B66B-BAB8-3D6017FCE92C}"/>
              </a:ext>
            </a:extLst>
          </p:cNvPr>
          <p:cNvSpPr/>
          <p:nvPr/>
        </p:nvSpPr>
        <p:spPr>
          <a:xfrm>
            <a:off x="3284326" y="1148104"/>
            <a:ext cx="2696928" cy="3049544"/>
          </a:xfrm>
          <a:prstGeom prst="roundRect">
            <a:avLst>
              <a:gd name="adj" fmla="val 4570"/>
            </a:avLst>
          </a:prstGeom>
          <a:solidFill>
            <a:schemeClr val="accent1"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BD758646-B30D-6E21-C8A5-B9E58FE5E35D}"/>
              </a:ext>
            </a:extLst>
          </p:cNvPr>
          <p:cNvSpPr/>
          <p:nvPr/>
        </p:nvSpPr>
        <p:spPr>
          <a:xfrm>
            <a:off x="518067" y="1148105"/>
            <a:ext cx="2696928" cy="3049544"/>
          </a:xfrm>
          <a:prstGeom prst="roundRect">
            <a:avLst>
              <a:gd name="adj" fmla="val 4570"/>
            </a:avLst>
          </a:prstGeom>
          <a:solidFill>
            <a:schemeClr val="accent1"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152" name="Google Shape;152;p16"/>
          <p:cNvSpPr txBox="1">
            <a:spLocks noGrp="1"/>
          </p:cNvSpPr>
          <p:nvPr>
            <p:ph type="ctrTitle" idx="15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SOLUCIÓN – Arquitectura Técnica</a:t>
            </a:r>
            <a:endParaRPr dirty="0"/>
          </a:p>
        </p:txBody>
      </p:sp>
      <p:sp>
        <p:nvSpPr>
          <p:cNvPr id="162" name="Google Shape;162;p16"/>
          <p:cNvSpPr txBox="1">
            <a:spLocks noGrp="1"/>
          </p:cNvSpPr>
          <p:nvPr>
            <p:ph type="ctrTitle" idx="6"/>
          </p:nvPr>
        </p:nvSpPr>
        <p:spPr>
          <a:xfrm>
            <a:off x="6237899" y="2369837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 INTERACTIVO</a:t>
            </a:r>
            <a:endParaRPr dirty="0"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7"/>
          </p:nvPr>
        </p:nvSpPr>
        <p:spPr>
          <a:xfrm>
            <a:off x="6050585" y="2900351"/>
            <a:ext cx="2651265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ES" b="1" dirty="0" err="1"/>
              <a:t>Streamlit</a:t>
            </a:r>
            <a:r>
              <a:rPr lang="es-ES" b="1" dirty="0"/>
              <a:t> Cloud (Producción)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ES" dirty="0"/>
              <a:t>Visualizaciones en tiempo real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ES" dirty="0"/>
              <a:t>Filtros dinámicos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ES" dirty="0"/>
              <a:t>Predicciones instantáneas de 3 modelos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ES" dirty="0"/>
              <a:t>Accesible desde cualquier dispositivo </a:t>
            </a:r>
            <a:endParaRPr sz="1200" dirty="0"/>
          </a:p>
        </p:txBody>
      </p:sp>
      <p:sp>
        <p:nvSpPr>
          <p:cNvPr id="166" name="Google Shape;166;p16"/>
          <p:cNvSpPr txBox="1">
            <a:spLocks noGrp="1"/>
          </p:cNvSpPr>
          <p:nvPr>
            <p:ph type="ctrTitle" idx="16"/>
          </p:nvPr>
        </p:nvSpPr>
        <p:spPr>
          <a:xfrm>
            <a:off x="989631" y="2335405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BASE DE DATOS EN LA NUBE</a:t>
            </a:r>
            <a:endParaRPr dirty="0"/>
          </a:p>
        </p:txBody>
      </p:sp>
      <p:sp>
        <p:nvSpPr>
          <p:cNvPr id="167" name="Google Shape;167;p16"/>
          <p:cNvSpPr txBox="1">
            <a:spLocks noGrp="1"/>
          </p:cNvSpPr>
          <p:nvPr>
            <p:ph type="subTitle" idx="17"/>
          </p:nvPr>
        </p:nvSpPr>
        <p:spPr>
          <a:xfrm>
            <a:off x="549626" y="2853918"/>
            <a:ext cx="2633809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s-CO" b="1" dirty="0"/>
              <a:t>Azure Cosmos DB (API MongoDB)                          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20,640 propiedades de California                    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Dataset estándar UCI ML </a:t>
            </a:r>
            <a:r>
              <a:rPr lang="es-CO" dirty="0" err="1"/>
              <a:t>Repository</a:t>
            </a:r>
            <a:r>
              <a:rPr lang="es-CO" dirty="0"/>
              <a:t>              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Acceso instantáneo 24/7 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NoSQL escalable y segura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8 características por propiedad </a:t>
            </a:r>
            <a:endParaRPr dirty="0"/>
          </a:p>
        </p:txBody>
      </p:sp>
      <p:sp>
        <p:nvSpPr>
          <p:cNvPr id="171" name="Google Shape;171;p16"/>
          <p:cNvSpPr txBox="1">
            <a:spLocks noGrp="1"/>
          </p:cNvSpPr>
          <p:nvPr>
            <p:ph type="ctrTitle"/>
          </p:nvPr>
        </p:nvSpPr>
        <p:spPr>
          <a:xfrm>
            <a:off x="3471640" y="2456135"/>
            <a:ext cx="2322300" cy="376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1"/>
          </p:nvPr>
        </p:nvSpPr>
        <p:spPr>
          <a:xfrm>
            <a:off x="3175695" y="2852245"/>
            <a:ext cx="2896877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s-CO" b="1" dirty="0"/>
              <a:t>3 Modelos Predictivos Evaluados</a:t>
            </a:r>
            <a:r>
              <a:rPr lang="es-CO" dirty="0"/>
              <a:t>                        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Regresión Lineal (</a:t>
            </a:r>
            <a:r>
              <a:rPr lang="es-CO" dirty="0" err="1"/>
              <a:t>baseline</a:t>
            </a:r>
            <a:r>
              <a:rPr lang="es-CO" dirty="0"/>
              <a:t>): R²=0.59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 err="1"/>
              <a:t>Random</a:t>
            </a:r>
            <a:r>
              <a:rPr lang="es-CO" dirty="0"/>
              <a:t> Forest : R²=0.798 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Red Neuronal (</a:t>
            </a:r>
            <a:r>
              <a:rPr lang="es-CO" dirty="0" err="1"/>
              <a:t>deep</a:t>
            </a:r>
            <a:r>
              <a:rPr lang="es-CO" dirty="0"/>
              <a:t> </a:t>
            </a:r>
            <a:r>
              <a:rPr lang="es-CO" dirty="0" err="1"/>
              <a:t>learning</a:t>
            </a:r>
            <a:r>
              <a:rPr lang="es-CO" dirty="0"/>
              <a:t>): R²=0.794</a:t>
            </a:r>
            <a:endParaRPr dirty="0"/>
          </a:p>
        </p:txBody>
      </p:sp>
      <p:pic>
        <p:nvPicPr>
          <p:cNvPr id="20" name="Picture 2" descr="Azure ">
            <a:extLst>
              <a:ext uri="{FF2B5EF4-FFF2-40B4-BE49-F238E27FC236}">
                <a16:creationId xmlns:a16="http://schemas.microsoft.com/office/drawing/2014/main" id="{581C3D5C-8AC4-BCD8-D631-647CBCA18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941" y="1456426"/>
            <a:ext cx="884435" cy="88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Coding ">
            <a:extLst>
              <a:ext uri="{FF2B5EF4-FFF2-40B4-BE49-F238E27FC236}">
                <a16:creationId xmlns:a16="http://schemas.microsoft.com/office/drawing/2014/main" id="{D3D12F8A-9A0E-1810-1402-9E328A611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348" y="1456426"/>
            <a:ext cx="781447" cy="78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Dashboard ">
            <a:extLst>
              <a:ext uri="{FF2B5EF4-FFF2-40B4-BE49-F238E27FC236}">
                <a16:creationId xmlns:a16="http://schemas.microsoft.com/office/drawing/2014/main" id="{C3DCAE18-AF68-7F9A-F2A0-9E757F62F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276" y="1456425"/>
            <a:ext cx="781447" cy="78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9CB1BA3-56DB-3E09-0673-6D0F55051ABE}"/>
              </a:ext>
            </a:extLst>
          </p:cNvPr>
          <p:cNvSpPr txBox="1"/>
          <p:nvPr/>
        </p:nvSpPr>
        <p:spPr>
          <a:xfrm>
            <a:off x="426858" y="4374310"/>
            <a:ext cx="2896877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1100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algn="ctr"/>
            <a:r>
              <a:rPr lang="es-CO" sz="1100" dirty="0" err="1"/>
              <a:t>MedInc</a:t>
            </a:r>
            <a:r>
              <a:rPr lang="es-CO" sz="1100" dirty="0"/>
              <a:t>, </a:t>
            </a:r>
            <a:r>
              <a:rPr lang="es-CO" sz="1100" dirty="0" err="1"/>
              <a:t>HouseAge</a:t>
            </a:r>
            <a:r>
              <a:rPr lang="es-CO" sz="1100" dirty="0"/>
              <a:t>, </a:t>
            </a:r>
            <a:r>
              <a:rPr lang="es-CO" sz="1100" dirty="0" err="1"/>
              <a:t>AveRooms</a:t>
            </a:r>
            <a:r>
              <a:rPr lang="es-CO" sz="1100" dirty="0"/>
              <a:t>, </a:t>
            </a:r>
            <a:r>
              <a:rPr lang="es-CO" sz="1100" dirty="0" err="1"/>
              <a:t>AveBedrms</a:t>
            </a:r>
            <a:r>
              <a:rPr lang="es-CO" sz="1100" dirty="0"/>
              <a:t>, </a:t>
            </a:r>
            <a:r>
              <a:rPr lang="es-CO" sz="1100" dirty="0" err="1"/>
              <a:t>Population</a:t>
            </a:r>
            <a:r>
              <a:rPr lang="es-CO" sz="1100" dirty="0"/>
              <a:t>, </a:t>
            </a:r>
            <a:r>
              <a:rPr lang="es-CO" sz="1100" dirty="0" err="1"/>
              <a:t>AveOccup</a:t>
            </a:r>
            <a:r>
              <a:rPr lang="es-CO" sz="1100" dirty="0"/>
              <a:t>, </a:t>
            </a:r>
            <a:r>
              <a:rPr lang="es-CO" sz="1100" dirty="0" err="1"/>
              <a:t>Latitude</a:t>
            </a:r>
            <a:r>
              <a:rPr lang="es-CO" sz="1100" dirty="0"/>
              <a:t>, </a:t>
            </a:r>
            <a:r>
              <a:rPr lang="es-CO" sz="1100" dirty="0" err="1"/>
              <a:t>Longitude</a:t>
            </a:r>
            <a:endParaRPr lang="es-CO" sz="110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9DFFC43-F2B2-AAC0-5EF5-14366EE8F728}"/>
              </a:ext>
            </a:extLst>
          </p:cNvPr>
          <p:cNvSpPr/>
          <p:nvPr/>
        </p:nvSpPr>
        <p:spPr>
          <a:xfrm>
            <a:off x="426858" y="4366688"/>
            <a:ext cx="2804128" cy="532851"/>
          </a:xfrm>
          <a:prstGeom prst="roundRect">
            <a:avLst/>
          </a:prstGeom>
          <a:noFill/>
          <a:ln>
            <a:solidFill>
              <a:srgbClr val="B5B6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E96FB955-AC14-DEFA-3D3C-FBB80DE2F375}"/>
              </a:ext>
            </a:extLst>
          </p:cNvPr>
          <p:cNvSpPr/>
          <p:nvPr/>
        </p:nvSpPr>
        <p:spPr>
          <a:xfrm>
            <a:off x="1695591" y="4118339"/>
            <a:ext cx="387844" cy="335280"/>
          </a:xfrm>
          <a:prstGeom prst="downArrow">
            <a:avLst/>
          </a:prstGeom>
          <a:solidFill>
            <a:srgbClr val="B5B682"/>
          </a:solidFill>
          <a:ln>
            <a:solidFill>
              <a:srgbClr val="B5B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59B8B8-599C-0994-59C9-81BED402BBF0}"/>
              </a:ext>
            </a:extLst>
          </p:cNvPr>
          <p:cNvSpPr txBox="1"/>
          <p:nvPr/>
        </p:nvSpPr>
        <p:spPr>
          <a:xfrm>
            <a:off x="3277139" y="4316819"/>
            <a:ext cx="2896877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1100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algn="ctr"/>
            <a:r>
              <a:rPr lang="es-CO" sz="1100" dirty="0" err="1"/>
              <a:t>Feedforward</a:t>
            </a:r>
            <a:r>
              <a:rPr lang="es-CO" sz="1100" dirty="0"/>
              <a:t> MLP, 3 capas ocultas (64-32-16), 3,201 parámetros </a:t>
            </a:r>
            <a:r>
              <a:rPr lang="es-CO" sz="1100" dirty="0" err="1"/>
              <a:t>entrenables</a:t>
            </a:r>
            <a:r>
              <a:rPr lang="es-CO" sz="1100" dirty="0"/>
              <a:t>,  Regularización L2 + </a:t>
            </a:r>
            <a:r>
              <a:rPr lang="es-CO" sz="1100" dirty="0" err="1"/>
              <a:t>Dropout</a:t>
            </a:r>
            <a:r>
              <a:rPr lang="es-CO" sz="1100" dirty="0"/>
              <a:t> + </a:t>
            </a:r>
            <a:r>
              <a:rPr lang="es-CO" sz="1100" dirty="0" err="1"/>
              <a:t>Early</a:t>
            </a:r>
            <a:r>
              <a:rPr lang="es-CO" sz="1100" dirty="0"/>
              <a:t> </a:t>
            </a:r>
            <a:r>
              <a:rPr lang="es-CO" sz="1100" dirty="0" err="1"/>
              <a:t>Stopping</a:t>
            </a:r>
            <a:endParaRPr lang="es-CO" sz="110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F0EEF1F-8891-4C22-4C31-A7AD1470C040}"/>
              </a:ext>
            </a:extLst>
          </p:cNvPr>
          <p:cNvSpPr/>
          <p:nvPr/>
        </p:nvSpPr>
        <p:spPr>
          <a:xfrm>
            <a:off x="3322860" y="4375165"/>
            <a:ext cx="2804128" cy="603001"/>
          </a:xfrm>
          <a:prstGeom prst="roundRect">
            <a:avLst/>
          </a:prstGeom>
          <a:noFill/>
          <a:ln>
            <a:solidFill>
              <a:srgbClr val="464F5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1BB52170-7BC5-C436-82B2-F7ADB20FAC5E}"/>
              </a:ext>
            </a:extLst>
          </p:cNvPr>
          <p:cNvSpPr/>
          <p:nvPr/>
        </p:nvSpPr>
        <p:spPr>
          <a:xfrm>
            <a:off x="4480322" y="4099409"/>
            <a:ext cx="387844" cy="335280"/>
          </a:xfrm>
          <a:prstGeom prst="downArrow">
            <a:avLst/>
          </a:prstGeom>
          <a:solidFill>
            <a:srgbClr val="464F5D"/>
          </a:solidFill>
          <a:ln>
            <a:solidFill>
              <a:srgbClr val="464F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4798BC-A3CB-FFAD-4E6D-E50AF05F1133}"/>
              </a:ext>
            </a:extLst>
          </p:cNvPr>
          <p:cNvSpPr txBox="1"/>
          <p:nvPr/>
        </p:nvSpPr>
        <p:spPr>
          <a:xfrm>
            <a:off x="6253155" y="4364966"/>
            <a:ext cx="2361661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1100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algn="ctr"/>
            <a:r>
              <a:rPr lang="es-CO" sz="1100"/>
              <a:t>URL pública: proyectobd2johannabp.streamlit.app</a:t>
            </a:r>
            <a:endParaRPr lang="es-CO" sz="11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5A1CD80-9D29-8B4F-97D6-11597E8BC858}"/>
              </a:ext>
            </a:extLst>
          </p:cNvPr>
          <p:cNvSpPr/>
          <p:nvPr/>
        </p:nvSpPr>
        <p:spPr>
          <a:xfrm>
            <a:off x="6237899" y="4378081"/>
            <a:ext cx="2376917" cy="532851"/>
          </a:xfrm>
          <a:prstGeom prst="roundRect">
            <a:avLst/>
          </a:prstGeom>
          <a:noFill/>
          <a:ln>
            <a:solidFill>
              <a:srgbClr val="288DB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C02F0B9B-EA4F-BD00-A350-5214B07A86ED}"/>
              </a:ext>
            </a:extLst>
          </p:cNvPr>
          <p:cNvSpPr/>
          <p:nvPr/>
        </p:nvSpPr>
        <p:spPr>
          <a:xfrm>
            <a:off x="7262923" y="4118339"/>
            <a:ext cx="387844" cy="335280"/>
          </a:xfrm>
          <a:prstGeom prst="downArrow">
            <a:avLst/>
          </a:prstGeom>
          <a:solidFill>
            <a:srgbClr val="288DB7"/>
          </a:solidFill>
          <a:ln>
            <a:solidFill>
              <a:srgbClr val="288D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DDC4175-68B2-D97C-E112-4B059C40B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A8A07651-A64E-8098-EBA2-7168BC2FBC6F}"/>
              </a:ext>
            </a:extLst>
          </p:cNvPr>
          <p:cNvSpPr/>
          <p:nvPr/>
        </p:nvSpPr>
        <p:spPr>
          <a:xfrm>
            <a:off x="140103" y="1257660"/>
            <a:ext cx="2233710" cy="3276240"/>
          </a:xfrm>
          <a:prstGeom prst="roundRect">
            <a:avLst>
              <a:gd name="adj" fmla="val 4570"/>
            </a:avLst>
          </a:prstGeom>
          <a:solidFill>
            <a:schemeClr val="accent1"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85776E9-F2A5-F949-2690-EDDB16B080C8}"/>
              </a:ext>
            </a:extLst>
          </p:cNvPr>
          <p:cNvSpPr/>
          <p:nvPr/>
        </p:nvSpPr>
        <p:spPr>
          <a:xfrm>
            <a:off x="5561309" y="1247164"/>
            <a:ext cx="3489398" cy="3286735"/>
          </a:xfrm>
          <a:prstGeom prst="roundRect">
            <a:avLst>
              <a:gd name="adj" fmla="val 4570"/>
            </a:avLst>
          </a:prstGeom>
          <a:solidFill>
            <a:schemeClr val="accent1"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pic>
        <p:nvPicPr>
          <p:cNvPr id="26" name="Imagen 25" descr="Diagrama&#10;&#10;El contenido generado por IA puede ser incorrecto.">
            <a:extLst>
              <a:ext uri="{FF2B5EF4-FFF2-40B4-BE49-F238E27FC236}">
                <a16:creationId xmlns:a16="http://schemas.microsoft.com/office/drawing/2014/main" id="{1C95519B-F66B-EE5C-118D-BF9C352D6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85165" y="1702742"/>
            <a:ext cx="3560609" cy="2540013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7D6D8FBD-2088-7BA7-156A-E39B8E56FCE6}"/>
              </a:ext>
            </a:extLst>
          </p:cNvPr>
          <p:cNvSpPr/>
          <p:nvPr/>
        </p:nvSpPr>
        <p:spPr>
          <a:xfrm>
            <a:off x="2468880" y="1257660"/>
            <a:ext cx="3002186" cy="3276240"/>
          </a:xfrm>
          <a:prstGeom prst="roundRect">
            <a:avLst>
              <a:gd name="adj" fmla="val 4570"/>
            </a:avLst>
          </a:prstGeom>
          <a:solidFill>
            <a:schemeClr val="accent1"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8792F1D5-F1BD-2D8E-9EA5-CE489BA37443}"/>
              </a:ext>
            </a:extLst>
          </p:cNvPr>
          <p:cNvSpPr txBox="1">
            <a:spLocks noGrp="1"/>
          </p:cNvSpPr>
          <p:nvPr>
            <p:ph type="ctrTitle" idx="15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SOLUCIÓN</a:t>
            </a:r>
            <a:endParaRPr dirty="0"/>
          </a:p>
        </p:txBody>
      </p:sp>
      <p:sp>
        <p:nvSpPr>
          <p:cNvPr id="19" name="AutoShape 2" descr="Azure ">
            <a:extLst>
              <a:ext uri="{FF2B5EF4-FFF2-40B4-BE49-F238E27FC236}">
                <a16:creationId xmlns:a16="http://schemas.microsoft.com/office/drawing/2014/main" id="{54CFB564-6CF1-DADC-9451-AF1C5196CD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08720" y="225171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32" name="Picture 8" descr="Input ">
            <a:extLst>
              <a:ext uri="{FF2B5EF4-FFF2-40B4-BE49-F238E27FC236}">
                <a16:creationId xmlns:a16="http://schemas.microsoft.com/office/drawing/2014/main" id="{EDFA0AAF-BD47-2A95-21DC-3BC5DA7E5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513" y="317373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9EC9564B-4064-807B-E349-1018F0C4AE03}"/>
              </a:ext>
            </a:extLst>
          </p:cNvPr>
          <p:cNvSpPr txBox="1"/>
          <p:nvPr/>
        </p:nvSpPr>
        <p:spPr>
          <a:xfrm rot="16200000">
            <a:off x="6232780" y="2633112"/>
            <a:ext cx="1143123" cy="43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1100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algn="ctr"/>
            <a:r>
              <a:rPr lang="es-CO" sz="800" dirty="0"/>
              <a:t>Normalización</a:t>
            </a:r>
          </a:p>
        </p:txBody>
      </p:sp>
      <p:sp>
        <p:nvSpPr>
          <p:cNvPr id="18" name="Google Shape;166;p16">
            <a:extLst>
              <a:ext uri="{FF2B5EF4-FFF2-40B4-BE49-F238E27FC236}">
                <a16:creationId xmlns:a16="http://schemas.microsoft.com/office/drawing/2014/main" id="{CB0A4D4C-C9A0-3253-D021-9EE6DF43DEB4}"/>
              </a:ext>
            </a:extLst>
          </p:cNvPr>
          <p:cNvSpPr txBox="1">
            <a:spLocks/>
          </p:cNvSpPr>
          <p:nvPr/>
        </p:nvSpPr>
        <p:spPr>
          <a:xfrm>
            <a:off x="6626674" y="1308663"/>
            <a:ext cx="1753800" cy="41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ExtraBold"/>
              <a:buNone/>
              <a:defRPr sz="1200" b="0" i="0" u="none" strike="noStrike" cap="none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s-ES" dirty="0"/>
              <a:t>RED NEURONAL</a:t>
            </a:r>
          </a:p>
        </p:txBody>
      </p:sp>
      <p:pic>
        <p:nvPicPr>
          <p:cNvPr id="28" name="Imagen 27" descr="Diagrama&#10;&#10;El contenido generado por IA puede ser incorrecto.">
            <a:extLst>
              <a:ext uri="{FF2B5EF4-FFF2-40B4-BE49-F238E27FC236}">
                <a16:creationId xmlns:a16="http://schemas.microsoft.com/office/drawing/2014/main" id="{DDD403C0-3FDF-0860-F283-1086855329E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6134" y="1836976"/>
            <a:ext cx="2670609" cy="2116219"/>
          </a:xfrm>
          <a:prstGeom prst="rect">
            <a:avLst/>
          </a:prstGeom>
        </p:spPr>
      </p:pic>
      <p:sp>
        <p:nvSpPr>
          <p:cNvPr id="31" name="Google Shape;166;p16">
            <a:extLst>
              <a:ext uri="{FF2B5EF4-FFF2-40B4-BE49-F238E27FC236}">
                <a16:creationId xmlns:a16="http://schemas.microsoft.com/office/drawing/2014/main" id="{60DE5E2D-5CC6-440D-E069-044E4EBC0098}"/>
              </a:ext>
            </a:extLst>
          </p:cNvPr>
          <p:cNvSpPr txBox="1">
            <a:spLocks/>
          </p:cNvSpPr>
          <p:nvPr/>
        </p:nvSpPr>
        <p:spPr>
          <a:xfrm>
            <a:off x="3074023" y="1308663"/>
            <a:ext cx="1753800" cy="41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ExtraBold"/>
              <a:buNone/>
              <a:defRPr sz="1200" b="0" i="0" u="none" strike="noStrike" cap="none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s-ES" dirty="0"/>
              <a:t>RANDOM FOREST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B37967A-C275-5056-1B0C-35D22278ABC0}"/>
              </a:ext>
            </a:extLst>
          </p:cNvPr>
          <p:cNvSpPr txBox="1"/>
          <p:nvPr/>
        </p:nvSpPr>
        <p:spPr>
          <a:xfrm>
            <a:off x="3265076" y="1787966"/>
            <a:ext cx="2076450" cy="6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1100"/>
              <a:buNone/>
              <a:defRPr sz="8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9pPr>
          </a:lstStyle>
          <a:p>
            <a:r>
              <a:rPr lang="es-ES" dirty="0"/>
              <a:t>~63% datos únicos por árbol ~37% duplicados</a:t>
            </a:r>
            <a:endParaRPr lang="es-CO" dirty="0"/>
          </a:p>
        </p:txBody>
      </p:sp>
      <p:pic>
        <p:nvPicPr>
          <p:cNvPr id="37" name="Imagen 36" descr="Diagrama&#10;&#10;El contenido generado por IA puede ser incorrecto.">
            <a:extLst>
              <a:ext uri="{FF2B5EF4-FFF2-40B4-BE49-F238E27FC236}">
                <a16:creationId xmlns:a16="http://schemas.microsoft.com/office/drawing/2014/main" id="{A84F1C3D-50CE-F50E-246B-8555BA1F9E4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74916" y="3672840"/>
            <a:ext cx="1805620" cy="800380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61425988-494A-2B50-58ED-481B252B1E46}"/>
              </a:ext>
            </a:extLst>
          </p:cNvPr>
          <p:cNvSpPr txBox="1"/>
          <p:nvPr/>
        </p:nvSpPr>
        <p:spPr>
          <a:xfrm>
            <a:off x="2393993" y="4009825"/>
            <a:ext cx="1002030" cy="27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1100"/>
              <a:buNone/>
              <a:defRPr sz="8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9pPr>
          </a:lstStyle>
          <a:p>
            <a:r>
              <a:rPr lang="es-CO" dirty="0"/>
              <a:t>100 árboles</a:t>
            </a:r>
          </a:p>
          <a:p>
            <a:r>
              <a:rPr lang="es-CO" dirty="0" err="1"/>
              <a:t>max_depth</a:t>
            </a:r>
            <a:r>
              <a:rPr lang="es-CO" dirty="0"/>
              <a:t>=20</a:t>
            </a:r>
          </a:p>
        </p:txBody>
      </p:sp>
      <p:pic>
        <p:nvPicPr>
          <p:cNvPr id="41" name="Imagen 40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5DF42431-BC58-457C-3815-BD8F269A285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</a:blip>
          <a:srcRect r="48895"/>
          <a:stretch>
            <a:fillRect/>
          </a:stretch>
        </p:blipFill>
        <p:spPr>
          <a:xfrm>
            <a:off x="260185" y="1780346"/>
            <a:ext cx="1522028" cy="1011009"/>
          </a:xfrm>
          <a:prstGeom prst="rect">
            <a:avLst/>
          </a:prstGeom>
        </p:spPr>
      </p:pic>
      <p:sp>
        <p:nvSpPr>
          <p:cNvPr id="43" name="Google Shape;166;p16">
            <a:extLst>
              <a:ext uri="{FF2B5EF4-FFF2-40B4-BE49-F238E27FC236}">
                <a16:creationId xmlns:a16="http://schemas.microsoft.com/office/drawing/2014/main" id="{35474EA1-114B-DB76-88E5-1D3455773405}"/>
              </a:ext>
            </a:extLst>
          </p:cNvPr>
          <p:cNvSpPr txBox="1">
            <a:spLocks/>
          </p:cNvSpPr>
          <p:nvPr/>
        </p:nvSpPr>
        <p:spPr>
          <a:xfrm>
            <a:off x="440757" y="1425973"/>
            <a:ext cx="1753800" cy="41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ExtraBold"/>
              <a:buNone/>
              <a:defRPr sz="1200" b="0" i="0" u="none" strike="noStrike" cap="none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quada One"/>
              <a:buNone/>
              <a:defRPr sz="1200" b="0" i="0" u="none" strike="noStrike" cap="none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s-ES" dirty="0"/>
              <a:t>REGRESIÓN LINEAL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5C7675E-93C8-D30F-3A50-A2F696B8EF6F}"/>
              </a:ext>
            </a:extLst>
          </p:cNvPr>
          <p:cNvSpPr txBox="1"/>
          <p:nvPr/>
        </p:nvSpPr>
        <p:spPr>
          <a:xfrm>
            <a:off x="1542750" y="2034166"/>
            <a:ext cx="733025" cy="29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1100"/>
              <a:buNone/>
              <a:defRPr sz="8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9pPr>
          </a:lstStyle>
          <a:p>
            <a:r>
              <a:rPr lang="es-ES" dirty="0"/>
              <a:t>Precios reales</a:t>
            </a:r>
            <a:endParaRPr lang="es-CO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76C763F-B151-5A0A-EC5B-41BCDE8640FC}"/>
              </a:ext>
            </a:extLst>
          </p:cNvPr>
          <p:cNvSpPr txBox="1"/>
          <p:nvPr/>
        </p:nvSpPr>
        <p:spPr>
          <a:xfrm>
            <a:off x="1565610" y="2262766"/>
            <a:ext cx="733025" cy="29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1100"/>
              <a:buNone/>
              <a:defRPr sz="8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9pPr>
          </a:lstStyle>
          <a:p>
            <a:r>
              <a:rPr lang="es-ES" dirty="0" err="1"/>
              <a:t>Features</a:t>
            </a:r>
            <a:endParaRPr lang="es-CO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D54EB0C-69FC-235C-635B-0D8E99A1DD16}"/>
              </a:ext>
            </a:extLst>
          </p:cNvPr>
          <p:cNvSpPr txBox="1"/>
          <p:nvPr/>
        </p:nvSpPr>
        <p:spPr>
          <a:xfrm>
            <a:off x="1555385" y="2539094"/>
            <a:ext cx="733025" cy="29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1100"/>
              <a:buNone/>
              <a:defRPr sz="8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9pPr>
          </a:lstStyle>
          <a:p>
            <a:r>
              <a:rPr lang="es-ES" dirty="0"/>
              <a:t>Coeficientes a encontrar</a:t>
            </a:r>
            <a:endParaRPr lang="es-CO" dirty="0"/>
          </a:p>
        </p:txBody>
      </p:sp>
      <p:pic>
        <p:nvPicPr>
          <p:cNvPr id="48" name="Imagen 47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A6141A0E-5C0E-70A9-96CC-97A672BA606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9606" y="3084957"/>
            <a:ext cx="2131535" cy="68400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AB5688C5-26D2-205E-5A36-7CACDC09CCC5}"/>
              </a:ext>
            </a:extLst>
          </p:cNvPr>
          <p:cNvSpPr txBox="1"/>
          <p:nvPr/>
        </p:nvSpPr>
        <p:spPr>
          <a:xfrm>
            <a:off x="1362605" y="3263535"/>
            <a:ext cx="877672" cy="22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1100"/>
              <a:buNone/>
              <a:defRPr sz="8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9pPr>
          </a:lstStyle>
          <a:p>
            <a:r>
              <a:rPr lang="es-ES" dirty="0"/>
              <a:t>Función de costo</a:t>
            </a:r>
            <a:endParaRPr lang="es-CO" dirty="0"/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DC4A765E-9855-A2EF-302A-767FBAF7CF6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4517" y="3954733"/>
            <a:ext cx="1008000" cy="252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81422C32-FE40-4632-DA95-6A8866E3C0DB}"/>
              </a:ext>
            </a:extLst>
          </p:cNvPr>
          <p:cNvSpPr txBox="1"/>
          <p:nvPr/>
        </p:nvSpPr>
        <p:spPr>
          <a:xfrm>
            <a:off x="1178472" y="3924668"/>
            <a:ext cx="1097303" cy="23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1100"/>
              <a:buNone/>
              <a:defRPr sz="8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9pPr>
          </a:lstStyle>
          <a:p>
            <a:r>
              <a:rPr lang="es-CO" dirty="0"/>
              <a:t>Mínimos cuadrados ordinarios</a:t>
            </a:r>
          </a:p>
        </p:txBody>
      </p:sp>
    </p:spTree>
    <p:extLst>
      <p:ext uri="{BB962C8B-B14F-4D97-AF65-F5344CB8AC3E}">
        <p14:creationId xmlns:p14="http://schemas.microsoft.com/office/powerpoint/2010/main" val="407861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46D7611-54D2-7974-88AF-C8F57190F31D}"/>
              </a:ext>
            </a:extLst>
          </p:cNvPr>
          <p:cNvSpPr/>
          <p:nvPr/>
        </p:nvSpPr>
        <p:spPr>
          <a:xfrm>
            <a:off x="5646327" y="1788206"/>
            <a:ext cx="3215658" cy="2372314"/>
          </a:xfrm>
          <a:prstGeom prst="roundRect">
            <a:avLst>
              <a:gd name="adj" fmla="val 4570"/>
            </a:avLst>
          </a:prstGeom>
          <a:solidFill>
            <a:schemeClr val="accent4">
              <a:lumMod val="75000"/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1179" name="Google Shape;1179;p31"/>
          <p:cNvSpPr txBox="1">
            <a:spLocks noGrp="1"/>
          </p:cNvSpPr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COMPARACIÓN CON ESTADO DEL ARTE</a:t>
            </a:r>
            <a:endParaRPr dirty="0"/>
          </a:p>
        </p:txBody>
      </p:sp>
      <p:graphicFrame>
        <p:nvGraphicFramePr>
          <p:cNvPr id="1180" name="Google Shape;1180;p31"/>
          <p:cNvGraphicFramePr/>
          <p:nvPr>
            <p:extLst>
              <p:ext uri="{D42A27DB-BD31-4B8C-83A1-F6EECF244321}">
                <p14:modId xmlns:p14="http://schemas.microsoft.com/office/powerpoint/2010/main" val="1872876138"/>
              </p:ext>
            </p:extLst>
          </p:nvPr>
        </p:nvGraphicFramePr>
        <p:xfrm>
          <a:off x="282015" y="1476300"/>
          <a:ext cx="5128185" cy="2606220"/>
        </p:xfrm>
        <a:graphic>
          <a:graphicData uri="http://schemas.openxmlformats.org/drawingml/2006/table">
            <a:tbl>
              <a:tblPr>
                <a:noFill/>
                <a:tableStyleId>{4C0986CA-C543-414A-8D12-F701EF26B760}</a:tableStyleId>
              </a:tblPr>
              <a:tblGrid>
                <a:gridCol w="1537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314753751"/>
                    </a:ext>
                  </a:extLst>
                </a:gridCol>
              </a:tblGrid>
              <a:tr h="533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400" dirty="0">
                          <a:solidFill>
                            <a:srgbClr val="9AD7D2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SISTEMA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9AD7D2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R2</a:t>
                      </a:r>
                      <a:endParaRPr sz="1100" dirty="0">
                        <a:solidFill>
                          <a:srgbClr val="9AD7D2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>
                          <a:solidFill>
                            <a:srgbClr val="9AD7D2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RMSE</a:t>
                      </a:r>
                      <a:endParaRPr sz="1100" dirty="0">
                        <a:solidFill>
                          <a:srgbClr val="9AD7D2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>
                          <a:solidFill>
                            <a:srgbClr val="9AD7D2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MAE</a:t>
                      </a:r>
                      <a:endParaRPr sz="1100" dirty="0">
                        <a:solidFill>
                          <a:srgbClr val="9AD7D2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>
                          <a:solidFill>
                            <a:srgbClr val="9AD7D2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Dataset</a:t>
                      </a:r>
                      <a:endParaRPr sz="1100" dirty="0">
                        <a:solidFill>
                          <a:srgbClr val="9AD7D2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dirty="0" err="1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Zillow</a:t>
                      </a:r>
                      <a:r>
                        <a:rPr lang="es-CO" sz="1100" dirty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 </a:t>
                      </a:r>
                      <a:r>
                        <a:rPr lang="es-CO" sz="1100" dirty="0" err="1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Zestimate</a:t>
                      </a:r>
                      <a:r>
                        <a:rPr lang="es-CO" sz="1100" dirty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 (Comercial</a:t>
                      </a:r>
                      <a:endParaRPr lang="es-CO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~0.760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~0.620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~0.520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Millones USA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FFFFFF"/>
                          </a:solidFill>
                          <a:latin typeface="Montserrat ExtraBold"/>
                          <a:sym typeface="Montserrat ExtraBold"/>
                        </a:rPr>
                        <a:t>Kaggle Top Solutions</a:t>
                      </a:r>
                      <a:endParaRPr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0.880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0.420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0.310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CA 20,640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UCI Study (2020) Académico</a:t>
                      </a:r>
                      <a:endParaRPr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0.730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0.710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0.550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CA 20,640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FFFFFF"/>
                          </a:solidFill>
                          <a:latin typeface="Montserrat ExtraBold"/>
                          <a:sym typeface="Montserrat ExtraBold"/>
                        </a:rPr>
                        <a:t>Proyecto (Random Forest)</a:t>
                      </a:r>
                      <a:endParaRPr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0.798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0.514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0.337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34343"/>
                          </a:solidFill>
                          <a:effectLst/>
                          <a:uLnTx/>
                          <a:uFillTx/>
                          <a:latin typeface="EB Garamond"/>
                          <a:ea typeface="EB Garamond"/>
                          <a:cs typeface="Arial"/>
                          <a:sym typeface="EB Garamond"/>
                        </a:rPr>
                        <a:t>CA 20,640</a:t>
                      </a:r>
                      <a:endParaRPr kumimoji="0" lang="e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34343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9BF3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85A795C-5CFB-229C-D9C0-8FB6B1CF8F1B}"/>
              </a:ext>
            </a:extLst>
          </p:cNvPr>
          <p:cNvSpPr txBox="1"/>
          <p:nvPr/>
        </p:nvSpPr>
        <p:spPr>
          <a:xfrm>
            <a:off x="5803375" y="2004867"/>
            <a:ext cx="29672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Las soluciones top de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Kaggle</a:t>
            </a: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 alcanzan 0.88 en R2,  pero requieren de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feature</a:t>
            </a: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engineering</a:t>
            </a: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 avanzado con más de 50 características derivadas y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ensembles</a:t>
            </a: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 complejos de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XGBoost</a:t>
            </a: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,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LightGBM</a:t>
            </a: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 y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CatBoost</a:t>
            </a:r>
            <a:endParaRPr lang="es-ES" sz="1200" dirty="0"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>
              <a:buNone/>
            </a:pPr>
            <a:endParaRPr lang="es-ES" sz="1200" dirty="0"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>
              <a:buNone/>
            </a:pP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Lo que diferencia no es solo la precisión, sino que es una solución que está desplegada en producción, accesible públicamente, con infraestructura </a:t>
            </a:r>
            <a:r>
              <a:rPr lang="es-ES" sz="1200" dirty="0" err="1">
                <a:latin typeface="EB Garamond" panose="00000500000000000000" pitchFamily="2" charset="0"/>
                <a:ea typeface="EB Garamond" panose="00000500000000000000" pitchFamily="2" charset="0"/>
              </a:rPr>
              <a:t>cloud</a:t>
            </a:r>
            <a:r>
              <a:rPr lang="es-ES" sz="1200" dirty="0">
                <a:latin typeface="EB Garamond" panose="00000500000000000000" pitchFamily="2" charset="0"/>
                <a:ea typeface="EB Garamond" panose="00000500000000000000" pitchFamily="2" charset="0"/>
              </a:rPr>
              <a:t> real.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A63279-C680-403F-756D-4E0A94B69A83}"/>
              </a:ext>
            </a:extLst>
          </p:cNvPr>
          <p:cNvSpPr txBox="1"/>
          <p:nvPr/>
        </p:nvSpPr>
        <p:spPr>
          <a:xfrm>
            <a:off x="7216065" y="3887728"/>
            <a:ext cx="1965960" cy="24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71450" indent="0">
              <a:spcAft>
                <a:spcPts val="100"/>
              </a:spcAft>
              <a:buFont typeface="Arial" panose="020B0604020202020204" pitchFamily="34" charset="0"/>
              <a:buChar char="•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</a:defRPr>
            </a:lvl1pPr>
          </a:lstStyle>
          <a:p>
            <a:pPr>
              <a:buNone/>
            </a:pPr>
            <a:r>
              <a:rPr lang="es-ES" sz="900" dirty="0"/>
              <a:t>Referencias [9] [10] [11] [12]</a:t>
            </a:r>
            <a:endParaRPr lang="es-CO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01AB896-E490-3512-2900-787AB901AF37}"/>
              </a:ext>
            </a:extLst>
          </p:cNvPr>
          <p:cNvSpPr/>
          <p:nvPr/>
        </p:nvSpPr>
        <p:spPr>
          <a:xfrm>
            <a:off x="4747260" y="3280607"/>
            <a:ext cx="4084559" cy="1727539"/>
          </a:xfrm>
          <a:prstGeom prst="roundRect">
            <a:avLst>
              <a:gd name="adj" fmla="val 5216"/>
            </a:avLst>
          </a:prstGeom>
          <a:solidFill>
            <a:schemeClr val="accent4">
              <a:alpha val="14902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184" name="Google Shape;184;p17"/>
          <p:cNvSpPr txBox="1">
            <a:spLocks noGrp="1"/>
          </p:cNvSpPr>
          <p:nvPr>
            <p:ph type="ctrTitle"/>
          </p:nvPr>
        </p:nvSpPr>
        <p:spPr>
          <a:xfrm>
            <a:off x="805092" y="427217"/>
            <a:ext cx="4668023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dirty="0"/>
              <a:t>DEMO EN VIVO</a:t>
            </a:r>
            <a:endParaRPr sz="3600" dirty="0">
              <a:solidFill>
                <a:srgbClr val="434343"/>
              </a:solidFill>
            </a:endParaRPr>
          </a:p>
        </p:txBody>
      </p:sp>
      <p:sp>
        <p:nvSpPr>
          <p:cNvPr id="185" name="Google Shape;185;p17"/>
          <p:cNvSpPr txBox="1">
            <a:spLocks noGrp="1"/>
          </p:cNvSpPr>
          <p:nvPr>
            <p:ph type="subTitle" idx="1"/>
          </p:nvPr>
        </p:nvSpPr>
        <p:spPr>
          <a:xfrm>
            <a:off x="4962675" y="1667893"/>
            <a:ext cx="3775043" cy="351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dirty="0">
                <a:solidFill>
                  <a:srgbClr val="434343"/>
                </a:solidFill>
              </a:rPr>
              <a:t>https://github.com/JohannaB97/proyectobd2dashboard</a:t>
            </a:r>
            <a:endParaRPr dirty="0">
              <a:solidFill>
                <a:srgbClr val="434343"/>
              </a:solidFill>
            </a:endParaRPr>
          </a:p>
        </p:txBody>
      </p:sp>
      <p:grpSp>
        <p:nvGrpSpPr>
          <p:cNvPr id="186" name="Google Shape;186;p17"/>
          <p:cNvGrpSpPr/>
          <p:nvPr/>
        </p:nvGrpSpPr>
        <p:grpSpPr>
          <a:xfrm>
            <a:off x="840454" y="1204782"/>
            <a:ext cx="1980215" cy="1907859"/>
            <a:chOff x="1029600" y="238175"/>
            <a:chExt cx="5360625" cy="5164750"/>
          </a:xfrm>
        </p:grpSpPr>
        <p:sp>
          <p:nvSpPr>
            <p:cNvPr id="187" name="Google Shape;187;p17"/>
            <p:cNvSpPr/>
            <p:nvPr/>
          </p:nvSpPr>
          <p:spPr>
            <a:xfrm>
              <a:off x="1029600" y="238175"/>
              <a:ext cx="5317100" cy="4055200"/>
            </a:xfrm>
            <a:custGeom>
              <a:avLst/>
              <a:gdLst/>
              <a:ahLst/>
              <a:cxnLst/>
              <a:rect l="l" t="t" r="r" b="b"/>
              <a:pathLst>
                <a:path w="212684" h="162208" extrusionOk="0">
                  <a:moveTo>
                    <a:pt x="109441" y="1"/>
                  </a:moveTo>
                  <a:cubicBezTo>
                    <a:pt x="79644" y="1"/>
                    <a:pt x="50872" y="12897"/>
                    <a:pt x="31068" y="36025"/>
                  </a:cubicBezTo>
                  <a:cubicBezTo>
                    <a:pt x="33570" y="35218"/>
                    <a:pt x="36296" y="34711"/>
                    <a:pt x="38970" y="34711"/>
                  </a:cubicBezTo>
                  <a:cubicBezTo>
                    <a:pt x="39179" y="34711"/>
                    <a:pt x="39388" y="34714"/>
                    <a:pt x="39596" y="34720"/>
                  </a:cubicBezTo>
                  <a:cubicBezTo>
                    <a:pt x="39668" y="34719"/>
                    <a:pt x="39740" y="34719"/>
                    <a:pt x="39812" y="34719"/>
                  </a:cubicBezTo>
                  <a:cubicBezTo>
                    <a:pt x="51212" y="34719"/>
                    <a:pt x="61466" y="41574"/>
                    <a:pt x="65877" y="52124"/>
                  </a:cubicBezTo>
                  <a:cubicBezTo>
                    <a:pt x="68408" y="41509"/>
                    <a:pt x="77835" y="34189"/>
                    <a:pt x="88478" y="34189"/>
                  </a:cubicBezTo>
                  <a:cubicBezTo>
                    <a:pt x="89178" y="34189"/>
                    <a:pt x="89883" y="34220"/>
                    <a:pt x="90591" y="34285"/>
                  </a:cubicBezTo>
                  <a:cubicBezTo>
                    <a:pt x="102165" y="35416"/>
                    <a:pt x="111128" y="44815"/>
                    <a:pt x="111564" y="56389"/>
                  </a:cubicBezTo>
                  <a:lnTo>
                    <a:pt x="17405" y="56389"/>
                  </a:lnTo>
                  <a:cubicBezTo>
                    <a:pt x="1" y="90240"/>
                    <a:pt x="2786" y="130967"/>
                    <a:pt x="24541" y="162208"/>
                  </a:cubicBezTo>
                  <a:lnTo>
                    <a:pt x="109388" y="77361"/>
                  </a:lnTo>
                  <a:lnTo>
                    <a:pt x="194235" y="162208"/>
                  </a:lnTo>
                  <a:cubicBezTo>
                    <a:pt x="206244" y="144977"/>
                    <a:pt x="212684" y="124527"/>
                    <a:pt x="212597" y="103468"/>
                  </a:cubicBezTo>
                  <a:cubicBezTo>
                    <a:pt x="212597" y="99726"/>
                    <a:pt x="212423" y="95984"/>
                    <a:pt x="211987" y="92242"/>
                  </a:cubicBezTo>
                  <a:lnTo>
                    <a:pt x="145937" y="92242"/>
                  </a:lnTo>
                  <a:cubicBezTo>
                    <a:pt x="146547" y="79885"/>
                    <a:pt x="156728" y="70138"/>
                    <a:pt x="169085" y="70138"/>
                  </a:cubicBezTo>
                  <a:cubicBezTo>
                    <a:pt x="179789" y="70225"/>
                    <a:pt x="189014" y="77622"/>
                    <a:pt x="191537" y="87978"/>
                  </a:cubicBezTo>
                  <a:cubicBezTo>
                    <a:pt x="194583" y="80668"/>
                    <a:pt x="200500" y="75011"/>
                    <a:pt x="207897" y="72140"/>
                  </a:cubicBezTo>
                  <a:cubicBezTo>
                    <a:pt x="196584" y="36460"/>
                    <a:pt x="166823" y="9657"/>
                    <a:pt x="130099" y="2087"/>
                  </a:cubicBezTo>
                  <a:cubicBezTo>
                    <a:pt x="123224" y="685"/>
                    <a:pt x="116305" y="1"/>
                    <a:pt x="109441" y="1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1643125" y="2170000"/>
              <a:ext cx="4242350" cy="3232925"/>
            </a:xfrm>
            <a:custGeom>
              <a:avLst/>
              <a:gdLst/>
              <a:ahLst/>
              <a:cxnLst/>
              <a:rect l="l" t="t" r="r" b="b"/>
              <a:pathLst>
                <a:path w="169694" h="129317" extrusionOk="0">
                  <a:moveTo>
                    <a:pt x="84847" y="1"/>
                  </a:moveTo>
                  <a:lnTo>
                    <a:pt x="0" y="84848"/>
                  </a:lnTo>
                  <a:cubicBezTo>
                    <a:pt x="19232" y="112695"/>
                    <a:pt x="50995" y="129316"/>
                    <a:pt x="84847" y="129316"/>
                  </a:cubicBezTo>
                  <a:cubicBezTo>
                    <a:pt x="118699" y="129316"/>
                    <a:pt x="150375" y="112695"/>
                    <a:pt x="169694" y="84848"/>
                  </a:cubicBezTo>
                  <a:lnTo>
                    <a:pt x="84847" y="1"/>
                  </a:lnTo>
                  <a:close/>
                </a:path>
              </a:pathLst>
            </a:custGeom>
            <a:solidFill>
              <a:srgbClr val="FFE4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1138400" y="1978550"/>
              <a:ext cx="5251825" cy="2817375"/>
            </a:xfrm>
            <a:custGeom>
              <a:avLst/>
              <a:gdLst/>
              <a:ahLst/>
              <a:cxnLst/>
              <a:rect l="l" t="t" r="r" b="b"/>
              <a:pathLst>
                <a:path w="210073" h="112695" extrusionOk="0">
                  <a:moveTo>
                    <a:pt x="105036" y="1"/>
                  </a:moveTo>
                  <a:lnTo>
                    <a:pt x="0" y="105037"/>
                  </a:lnTo>
                  <a:lnTo>
                    <a:pt x="7658" y="112695"/>
                  </a:lnTo>
                  <a:lnTo>
                    <a:pt x="105036" y="15317"/>
                  </a:lnTo>
                  <a:lnTo>
                    <a:pt x="202414" y="112695"/>
                  </a:lnTo>
                  <a:lnTo>
                    <a:pt x="210072" y="105037"/>
                  </a:lnTo>
                  <a:lnTo>
                    <a:pt x="10503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3357450" y="3714650"/>
              <a:ext cx="813700" cy="813700"/>
            </a:xfrm>
            <a:custGeom>
              <a:avLst/>
              <a:gdLst/>
              <a:ahLst/>
              <a:cxnLst/>
              <a:rect l="l" t="t" r="r" b="b"/>
              <a:pathLst>
                <a:path w="32548" h="32548" extrusionOk="0">
                  <a:moveTo>
                    <a:pt x="16274" y="1"/>
                  </a:moveTo>
                  <a:cubicBezTo>
                    <a:pt x="7311" y="1"/>
                    <a:pt x="1" y="7311"/>
                    <a:pt x="1" y="16274"/>
                  </a:cubicBezTo>
                  <a:cubicBezTo>
                    <a:pt x="1" y="25237"/>
                    <a:pt x="7311" y="32547"/>
                    <a:pt x="16274" y="32547"/>
                  </a:cubicBezTo>
                  <a:cubicBezTo>
                    <a:pt x="25237" y="32547"/>
                    <a:pt x="32547" y="25237"/>
                    <a:pt x="32547" y="16274"/>
                  </a:cubicBezTo>
                  <a:cubicBezTo>
                    <a:pt x="32547" y="7311"/>
                    <a:pt x="25237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3115975" y="3635175"/>
              <a:ext cx="1133500" cy="971500"/>
            </a:xfrm>
            <a:custGeom>
              <a:avLst/>
              <a:gdLst/>
              <a:ahLst/>
              <a:cxnLst/>
              <a:rect l="l" t="t" r="r" b="b"/>
              <a:pathLst>
                <a:path w="45340" h="38860" extrusionOk="0">
                  <a:moveTo>
                    <a:pt x="25933" y="6400"/>
                  </a:moveTo>
                  <a:cubicBezTo>
                    <a:pt x="33156" y="6400"/>
                    <a:pt x="38986" y="12230"/>
                    <a:pt x="38986" y="19453"/>
                  </a:cubicBezTo>
                  <a:cubicBezTo>
                    <a:pt x="38986" y="27336"/>
                    <a:pt x="32544" y="32555"/>
                    <a:pt x="25842" y="32555"/>
                  </a:cubicBezTo>
                  <a:cubicBezTo>
                    <a:pt x="22630" y="32555"/>
                    <a:pt x="19359" y="31356"/>
                    <a:pt x="16709" y="28677"/>
                  </a:cubicBezTo>
                  <a:cubicBezTo>
                    <a:pt x="8442" y="20497"/>
                    <a:pt x="14272" y="6400"/>
                    <a:pt x="25933" y="6400"/>
                  </a:cubicBezTo>
                  <a:close/>
                  <a:moveTo>
                    <a:pt x="25788" y="0"/>
                  </a:moveTo>
                  <a:cubicBezTo>
                    <a:pt x="21017" y="0"/>
                    <a:pt x="16150" y="1765"/>
                    <a:pt x="12183" y="5703"/>
                  </a:cubicBezTo>
                  <a:cubicBezTo>
                    <a:pt x="0" y="17974"/>
                    <a:pt x="8616" y="38859"/>
                    <a:pt x="25933" y="38859"/>
                  </a:cubicBezTo>
                  <a:cubicBezTo>
                    <a:pt x="36637" y="38859"/>
                    <a:pt x="45339" y="30157"/>
                    <a:pt x="45339" y="19453"/>
                  </a:cubicBezTo>
                  <a:cubicBezTo>
                    <a:pt x="45339" y="7734"/>
                    <a:pt x="35775" y="0"/>
                    <a:pt x="2578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3775175" y="3686375"/>
              <a:ext cx="25" cy="815850"/>
            </a:xfrm>
            <a:custGeom>
              <a:avLst/>
              <a:gdLst/>
              <a:ahLst/>
              <a:cxnLst/>
              <a:rect l="l" t="t" r="r" b="b"/>
              <a:pathLst>
                <a:path w="1" h="32634" extrusionOk="0">
                  <a:moveTo>
                    <a:pt x="0" y="1"/>
                  </a:moveTo>
                  <a:lnTo>
                    <a:pt x="0" y="32634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3694675" y="3686375"/>
              <a:ext cx="163175" cy="815850"/>
            </a:xfrm>
            <a:custGeom>
              <a:avLst/>
              <a:gdLst/>
              <a:ahLst/>
              <a:cxnLst/>
              <a:rect l="l" t="t" r="r" b="b"/>
              <a:pathLst>
                <a:path w="6527" h="32634" extrusionOk="0">
                  <a:moveTo>
                    <a:pt x="0" y="1"/>
                  </a:moveTo>
                  <a:lnTo>
                    <a:pt x="0" y="32634"/>
                  </a:lnTo>
                  <a:lnTo>
                    <a:pt x="6527" y="32634"/>
                  </a:lnTo>
                  <a:lnTo>
                    <a:pt x="652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3340050" y="4121500"/>
              <a:ext cx="844150" cy="25"/>
            </a:xfrm>
            <a:custGeom>
              <a:avLst/>
              <a:gdLst/>
              <a:ahLst/>
              <a:cxnLst/>
              <a:rect l="l" t="t" r="r" b="b"/>
              <a:pathLst>
                <a:path w="33766" h="1" extrusionOk="0">
                  <a:moveTo>
                    <a:pt x="1" y="0"/>
                  </a:moveTo>
                  <a:lnTo>
                    <a:pt x="33765" y="0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3340050" y="4038825"/>
              <a:ext cx="844150" cy="163175"/>
            </a:xfrm>
            <a:custGeom>
              <a:avLst/>
              <a:gdLst/>
              <a:ahLst/>
              <a:cxnLst/>
              <a:rect l="l" t="t" r="r" b="b"/>
              <a:pathLst>
                <a:path w="33766" h="6527" extrusionOk="0">
                  <a:moveTo>
                    <a:pt x="1" y="0"/>
                  </a:moveTo>
                  <a:lnTo>
                    <a:pt x="1" y="6527"/>
                  </a:lnTo>
                  <a:lnTo>
                    <a:pt x="33765" y="6527"/>
                  </a:lnTo>
                  <a:lnTo>
                    <a:pt x="3376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/>
          <p:nvPr/>
        </p:nvSpPr>
        <p:spPr>
          <a:xfrm>
            <a:off x="640098" y="3127776"/>
            <a:ext cx="2419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74C1B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STREAMLIT</a:t>
            </a:r>
            <a:endParaRPr sz="3000" dirty="0">
              <a:solidFill>
                <a:srgbClr val="74C1B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10768" y="3572876"/>
            <a:ext cx="2419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DASHBOARD</a:t>
            </a:r>
            <a:endParaRPr sz="1200" dirty="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" name="Google Shape;185;p17">
            <a:extLst>
              <a:ext uri="{FF2B5EF4-FFF2-40B4-BE49-F238E27FC236}">
                <a16:creationId xmlns:a16="http://schemas.microsoft.com/office/drawing/2014/main" id="{E3B723C4-CB80-775E-D15D-DFEE2039B906}"/>
              </a:ext>
            </a:extLst>
          </p:cNvPr>
          <p:cNvSpPr txBox="1">
            <a:spLocks/>
          </p:cNvSpPr>
          <p:nvPr/>
        </p:nvSpPr>
        <p:spPr>
          <a:xfrm>
            <a:off x="4962675" y="2406585"/>
            <a:ext cx="3775043" cy="35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CO" dirty="0"/>
              <a:t>https://proyectobd2johannabp.streamlit.app/</a:t>
            </a:r>
          </a:p>
        </p:txBody>
      </p:sp>
      <p:pic>
        <p:nvPicPr>
          <p:cNvPr id="3074" name="Picture 2" descr="Github ">
            <a:extLst>
              <a:ext uri="{FF2B5EF4-FFF2-40B4-BE49-F238E27FC236}">
                <a16:creationId xmlns:a16="http://schemas.microsoft.com/office/drawing/2014/main" id="{D8249836-2049-FB34-3B38-87F2555D9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394" y="155976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ashboard ">
            <a:extLst>
              <a:ext uri="{FF2B5EF4-FFF2-40B4-BE49-F238E27FC236}">
                <a16:creationId xmlns:a16="http://schemas.microsoft.com/office/drawing/2014/main" id="{94B523FC-10BE-B76C-3128-A5988103A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394" y="235652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F892C74-549E-0A22-9B1E-48B737BC7AA1}"/>
              </a:ext>
            </a:extLst>
          </p:cNvPr>
          <p:cNvSpPr txBox="1"/>
          <p:nvPr/>
        </p:nvSpPr>
        <p:spPr>
          <a:xfrm>
            <a:off x="5996879" y="3294730"/>
            <a:ext cx="24195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1100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indent="-304800">
              <a:buClr>
                <a:srgbClr val="434343"/>
              </a:buClr>
              <a:buSzPts val="1200"/>
              <a:buFont typeface="EB Garamond"/>
              <a:buNone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 err="1"/>
              <a:t>MedInc</a:t>
            </a:r>
            <a:r>
              <a:rPr lang="es-CO" dirty="0"/>
              <a:t>: 3.5 (representa $35,000)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 err="1"/>
              <a:t>HouseAge</a:t>
            </a:r>
            <a:r>
              <a:rPr lang="es-CO" dirty="0"/>
              <a:t>: 20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 err="1"/>
              <a:t>AveRooms</a:t>
            </a:r>
            <a:r>
              <a:rPr lang="es-CO" dirty="0"/>
              <a:t>: 5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 err="1"/>
              <a:t>AveBedrms</a:t>
            </a:r>
            <a:r>
              <a:rPr lang="es-CO" dirty="0"/>
              <a:t>: 1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 err="1"/>
              <a:t>Population</a:t>
            </a:r>
            <a:r>
              <a:rPr lang="es-CO" dirty="0"/>
              <a:t>: 1500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 err="1"/>
              <a:t>AveOccup</a:t>
            </a:r>
            <a:r>
              <a:rPr lang="es-CO" dirty="0"/>
              <a:t>: 3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/>
              <a:t> </a:t>
            </a:r>
            <a:r>
              <a:rPr lang="es-CO" dirty="0" err="1"/>
              <a:t>Latitude</a:t>
            </a:r>
            <a:r>
              <a:rPr lang="es-CO" dirty="0"/>
              <a:t>: 34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CO" dirty="0" err="1"/>
              <a:t>Longitude</a:t>
            </a:r>
            <a:r>
              <a:rPr lang="es-CO" dirty="0"/>
              <a:t>: -118 (Los Ángeles)</a:t>
            </a:r>
          </a:p>
        </p:txBody>
      </p:sp>
      <p:sp>
        <p:nvSpPr>
          <p:cNvPr id="7" name="Google Shape;185;p17">
            <a:extLst>
              <a:ext uri="{FF2B5EF4-FFF2-40B4-BE49-F238E27FC236}">
                <a16:creationId xmlns:a16="http://schemas.microsoft.com/office/drawing/2014/main" id="{100261F2-85F8-B0FD-E626-79164D95EC32}"/>
              </a:ext>
            </a:extLst>
          </p:cNvPr>
          <p:cNvSpPr txBox="1">
            <a:spLocks/>
          </p:cNvSpPr>
          <p:nvPr/>
        </p:nvSpPr>
        <p:spPr>
          <a:xfrm>
            <a:off x="4805166" y="3767302"/>
            <a:ext cx="1191713" cy="35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None/>
              <a:defRPr sz="1200" b="0" i="0" u="none" strike="noStrike" cap="none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Font typeface="Arial"/>
              <a:buNone/>
            </a:pPr>
            <a:r>
              <a:rPr lang="es-CO" sz="1400" b="1" dirty="0">
                <a:latin typeface="Montserrat" panose="00000500000000000000" pitchFamily="2" charset="0"/>
              </a:rPr>
              <a:t>DATOS EJEMPLO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1"/>
          <p:cNvSpPr txBox="1">
            <a:spLocks noGrp="1"/>
          </p:cNvSpPr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VENTAJAS COMPETITIVAS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367308" y="1727960"/>
            <a:ext cx="2160000" cy="21600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5" name="Google Shape;635;p21"/>
          <p:cNvSpPr/>
          <p:nvPr/>
        </p:nvSpPr>
        <p:spPr>
          <a:xfrm>
            <a:off x="1948239" y="1727960"/>
            <a:ext cx="2160000" cy="21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1"/>
          <p:cNvSpPr/>
          <p:nvPr/>
        </p:nvSpPr>
        <p:spPr>
          <a:xfrm>
            <a:off x="3529171" y="1727960"/>
            <a:ext cx="2160000" cy="21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1"/>
          <p:cNvSpPr/>
          <p:nvPr/>
        </p:nvSpPr>
        <p:spPr>
          <a:xfrm>
            <a:off x="5110103" y="1727960"/>
            <a:ext cx="2160000" cy="21600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6691035" y="1727960"/>
            <a:ext cx="2160000" cy="21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9" name="Google Shape;639;p21"/>
          <p:cNvGrpSpPr/>
          <p:nvPr/>
        </p:nvGrpSpPr>
        <p:grpSpPr>
          <a:xfrm>
            <a:off x="5686763" y="2185801"/>
            <a:ext cx="429317" cy="365802"/>
            <a:chOff x="-1341636" y="2815364"/>
            <a:chExt cx="429317" cy="365802"/>
          </a:xfrm>
        </p:grpSpPr>
        <p:sp>
          <p:nvSpPr>
            <p:cNvPr id="640" name="Google Shape;640;p21"/>
            <p:cNvSpPr/>
            <p:nvPr/>
          </p:nvSpPr>
          <p:spPr>
            <a:xfrm>
              <a:off x="-1341636" y="3041498"/>
              <a:ext cx="429317" cy="113064"/>
            </a:xfrm>
            <a:custGeom>
              <a:avLst/>
              <a:gdLst/>
              <a:ahLst/>
              <a:cxnLst/>
              <a:rect l="l" t="t" r="r" b="b"/>
              <a:pathLst>
                <a:path w="73231" h="19286" extrusionOk="0">
                  <a:moveTo>
                    <a:pt x="12796" y="1"/>
                  </a:moveTo>
                  <a:cubicBezTo>
                    <a:pt x="12428" y="1"/>
                    <a:pt x="12066" y="181"/>
                    <a:pt x="11844" y="510"/>
                  </a:cubicBezTo>
                  <a:lnTo>
                    <a:pt x="500" y="17527"/>
                  </a:lnTo>
                  <a:cubicBezTo>
                    <a:pt x="0" y="18276"/>
                    <a:pt x="534" y="19286"/>
                    <a:pt x="1441" y="19286"/>
                  </a:cubicBezTo>
                  <a:lnTo>
                    <a:pt x="71779" y="19286"/>
                  </a:lnTo>
                  <a:cubicBezTo>
                    <a:pt x="72686" y="19286"/>
                    <a:pt x="73231" y="18276"/>
                    <a:pt x="72720" y="17527"/>
                  </a:cubicBezTo>
                  <a:lnTo>
                    <a:pt x="61376" y="510"/>
                  </a:lnTo>
                  <a:cubicBezTo>
                    <a:pt x="61161" y="181"/>
                    <a:pt x="60802" y="1"/>
                    <a:pt x="60435" y="1"/>
                  </a:cubicBezTo>
                  <a:cubicBezTo>
                    <a:pt x="60220" y="1"/>
                    <a:pt x="60003" y="62"/>
                    <a:pt x="59810" y="192"/>
                  </a:cubicBezTo>
                  <a:cubicBezTo>
                    <a:pt x="59288" y="544"/>
                    <a:pt x="59141" y="1247"/>
                    <a:pt x="59492" y="1769"/>
                  </a:cubicBezTo>
                  <a:lnTo>
                    <a:pt x="69657" y="17017"/>
                  </a:lnTo>
                  <a:lnTo>
                    <a:pt x="3563" y="17017"/>
                  </a:lnTo>
                  <a:lnTo>
                    <a:pt x="13728" y="1769"/>
                  </a:lnTo>
                  <a:cubicBezTo>
                    <a:pt x="14079" y="1247"/>
                    <a:pt x="13943" y="544"/>
                    <a:pt x="13421" y="192"/>
                  </a:cubicBezTo>
                  <a:cubicBezTo>
                    <a:pt x="13228" y="62"/>
                    <a:pt x="13011" y="1"/>
                    <a:pt x="1279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1"/>
            <p:cNvSpPr/>
            <p:nvPr/>
          </p:nvSpPr>
          <p:spPr>
            <a:xfrm>
              <a:off x="-1339842" y="3141254"/>
              <a:ext cx="425664" cy="39912"/>
            </a:xfrm>
            <a:custGeom>
              <a:avLst/>
              <a:gdLst/>
              <a:ahLst/>
              <a:cxnLst/>
              <a:rect l="l" t="t" r="r" b="b"/>
              <a:pathLst>
                <a:path w="72608" h="6808" extrusionOk="0">
                  <a:moveTo>
                    <a:pt x="70338" y="2270"/>
                  </a:moveTo>
                  <a:lnTo>
                    <a:pt x="70338" y="4539"/>
                  </a:lnTo>
                  <a:lnTo>
                    <a:pt x="2270" y="4539"/>
                  </a:lnTo>
                  <a:lnTo>
                    <a:pt x="2270" y="2270"/>
                  </a:lnTo>
                  <a:close/>
                  <a:moveTo>
                    <a:pt x="1135" y="1"/>
                  </a:moveTo>
                  <a:cubicBezTo>
                    <a:pt x="511" y="1"/>
                    <a:pt x="1" y="511"/>
                    <a:pt x="1" y="1135"/>
                  </a:cubicBezTo>
                  <a:lnTo>
                    <a:pt x="1" y="5673"/>
                  </a:lnTo>
                  <a:cubicBezTo>
                    <a:pt x="1" y="6297"/>
                    <a:pt x="511" y="6808"/>
                    <a:pt x="1135" y="6808"/>
                  </a:cubicBezTo>
                  <a:lnTo>
                    <a:pt x="71473" y="6808"/>
                  </a:lnTo>
                  <a:cubicBezTo>
                    <a:pt x="72097" y="6808"/>
                    <a:pt x="72607" y="6297"/>
                    <a:pt x="72607" y="5673"/>
                  </a:cubicBezTo>
                  <a:lnTo>
                    <a:pt x="72607" y="1135"/>
                  </a:lnTo>
                  <a:cubicBezTo>
                    <a:pt x="72607" y="511"/>
                    <a:pt x="72097" y="1"/>
                    <a:pt x="7147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1"/>
            <p:cNvSpPr/>
            <p:nvPr/>
          </p:nvSpPr>
          <p:spPr>
            <a:xfrm>
              <a:off x="-1281979" y="3068102"/>
              <a:ext cx="50089" cy="86507"/>
            </a:xfrm>
            <a:custGeom>
              <a:avLst/>
              <a:gdLst/>
              <a:ahLst/>
              <a:cxnLst/>
              <a:rect l="l" t="t" r="r" b="b"/>
              <a:pathLst>
                <a:path w="8544" h="14756" extrusionOk="0">
                  <a:moveTo>
                    <a:pt x="7256" y="0"/>
                  </a:moveTo>
                  <a:cubicBezTo>
                    <a:pt x="6832" y="0"/>
                    <a:pt x="6425" y="238"/>
                    <a:pt x="6229" y="646"/>
                  </a:cubicBezTo>
                  <a:lnTo>
                    <a:pt x="284" y="13125"/>
                  </a:lnTo>
                  <a:cubicBezTo>
                    <a:pt x="1" y="13693"/>
                    <a:pt x="250" y="14373"/>
                    <a:pt x="817" y="14645"/>
                  </a:cubicBezTo>
                  <a:cubicBezTo>
                    <a:pt x="974" y="14721"/>
                    <a:pt x="1139" y="14756"/>
                    <a:pt x="1301" y="14756"/>
                  </a:cubicBezTo>
                  <a:cubicBezTo>
                    <a:pt x="1728" y="14756"/>
                    <a:pt x="2137" y="14512"/>
                    <a:pt x="2326" y="14101"/>
                  </a:cubicBezTo>
                  <a:lnTo>
                    <a:pt x="8282" y="1622"/>
                  </a:lnTo>
                  <a:cubicBezTo>
                    <a:pt x="8543" y="1054"/>
                    <a:pt x="8305" y="385"/>
                    <a:pt x="7749" y="113"/>
                  </a:cubicBezTo>
                  <a:cubicBezTo>
                    <a:pt x="7590" y="36"/>
                    <a:pt x="7422" y="0"/>
                    <a:pt x="72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1"/>
            <p:cNvSpPr/>
            <p:nvPr/>
          </p:nvSpPr>
          <p:spPr>
            <a:xfrm>
              <a:off x="-1213341" y="3074762"/>
              <a:ext cx="24347" cy="46548"/>
            </a:xfrm>
            <a:custGeom>
              <a:avLst/>
              <a:gdLst/>
              <a:ahLst/>
              <a:cxnLst/>
              <a:rect l="l" t="t" r="r" b="b"/>
              <a:pathLst>
                <a:path w="4153" h="7940" extrusionOk="0">
                  <a:moveTo>
                    <a:pt x="2892" y="0"/>
                  </a:moveTo>
                  <a:cubicBezTo>
                    <a:pt x="2399" y="0"/>
                    <a:pt x="1945" y="327"/>
                    <a:pt x="1804" y="826"/>
                  </a:cubicBezTo>
                  <a:lnTo>
                    <a:pt x="171" y="6498"/>
                  </a:lnTo>
                  <a:cubicBezTo>
                    <a:pt x="0" y="7100"/>
                    <a:pt x="352" y="7724"/>
                    <a:pt x="953" y="7894"/>
                  </a:cubicBezTo>
                  <a:cubicBezTo>
                    <a:pt x="1055" y="7928"/>
                    <a:pt x="1158" y="7939"/>
                    <a:pt x="1271" y="7939"/>
                  </a:cubicBezTo>
                  <a:cubicBezTo>
                    <a:pt x="1770" y="7939"/>
                    <a:pt x="2213" y="7599"/>
                    <a:pt x="2360" y="7122"/>
                  </a:cubicBezTo>
                  <a:lnTo>
                    <a:pt x="3982" y="1450"/>
                  </a:lnTo>
                  <a:cubicBezTo>
                    <a:pt x="4153" y="849"/>
                    <a:pt x="3801" y="213"/>
                    <a:pt x="3200" y="43"/>
                  </a:cubicBezTo>
                  <a:cubicBezTo>
                    <a:pt x="3097" y="14"/>
                    <a:pt x="2994" y="0"/>
                    <a:pt x="289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1"/>
            <p:cNvSpPr/>
            <p:nvPr/>
          </p:nvSpPr>
          <p:spPr>
            <a:xfrm>
              <a:off x="-999847" y="3114814"/>
              <a:ext cx="27735" cy="39748"/>
            </a:xfrm>
            <a:custGeom>
              <a:avLst/>
              <a:gdLst/>
              <a:ahLst/>
              <a:cxnLst/>
              <a:rect l="l" t="t" r="r" b="b"/>
              <a:pathLst>
                <a:path w="4731" h="6780" extrusionOk="0">
                  <a:moveTo>
                    <a:pt x="1279" y="1"/>
                  </a:moveTo>
                  <a:cubicBezTo>
                    <a:pt x="1116" y="1"/>
                    <a:pt x="951" y="35"/>
                    <a:pt x="794" y="109"/>
                  </a:cubicBezTo>
                  <a:cubicBezTo>
                    <a:pt x="238" y="370"/>
                    <a:pt x="0" y="1039"/>
                    <a:pt x="250" y="1595"/>
                  </a:cubicBezTo>
                  <a:lnTo>
                    <a:pt x="2417" y="6133"/>
                  </a:lnTo>
                  <a:cubicBezTo>
                    <a:pt x="2609" y="6530"/>
                    <a:pt x="3007" y="6780"/>
                    <a:pt x="3438" y="6780"/>
                  </a:cubicBezTo>
                  <a:cubicBezTo>
                    <a:pt x="3608" y="6780"/>
                    <a:pt x="3778" y="6746"/>
                    <a:pt x="3925" y="6666"/>
                  </a:cubicBezTo>
                  <a:cubicBezTo>
                    <a:pt x="4493" y="6405"/>
                    <a:pt x="4731" y="5725"/>
                    <a:pt x="4470" y="5157"/>
                  </a:cubicBezTo>
                  <a:lnTo>
                    <a:pt x="2303" y="619"/>
                  </a:lnTo>
                  <a:cubicBezTo>
                    <a:pt x="2099" y="228"/>
                    <a:pt x="1696" y="1"/>
                    <a:pt x="127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1"/>
            <p:cNvSpPr/>
            <p:nvPr/>
          </p:nvSpPr>
          <p:spPr>
            <a:xfrm>
              <a:off x="-1034764" y="3041498"/>
              <a:ext cx="37315" cy="59856"/>
            </a:xfrm>
            <a:custGeom>
              <a:avLst/>
              <a:gdLst/>
              <a:ahLst/>
              <a:cxnLst/>
              <a:rect l="l" t="t" r="r" b="b"/>
              <a:pathLst>
                <a:path w="6365" h="10210" extrusionOk="0">
                  <a:moveTo>
                    <a:pt x="1289" y="0"/>
                  </a:moveTo>
                  <a:cubicBezTo>
                    <a:pt x="1127" y="0"/>
                    <a:pt x="962" y="36"/>
                    <a:pt x="806" y="113"/>
                  </a:cubicBezTo>
                  <a:cubicBezTo>
                    <a:pt x="238" y="385"/>
                    <a:pt x="0" y="1054"/>
                    <a:pt x="261" y="1622"/>
                  </a:cubicBezTo>
                  <a:lnTo>
                    <a:pt x="4039" y="9563"/>
                  </a:lnTo>
                  <a:cubicBezTo>
                    <a:pt x="4232" y="9960"/>
                    <a:pt x="4629" y="10210"/>
                    <a:pt x="5071" y="10210"/>
                  </a:cubicBezTo>
                  <a:cubicBezTo>
                    <a:pt x="5230" y="10210"/>
                    <a:pt x="5400" y="10164"/>
                    <a:pt x="5559" y="10096"/>
                  </a:cubicBezTo>
                  <a:cubicBezTo>
                    <a:pt x="6126" y="9824"/>
                    <a:pt x="6365" y="9155"/>
                    <a:pt x="6092" y="8587"/>
                  </a:cubicBezTo>
                  <a:lnTo>
                    <a:pt x="2314" y="646"/>
                  </a:lnTo>
                  <a:cubicBezTo>
                    <a:pt x="2110" y="238"/>
                    <a:pt x="1707" y="0"/>
                    <a:pt x="128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1"/>
            <p:cNvSpPr/>
            <p:nvPr/>
          </p:nvSpPr>
          <p:spPr>
            <a:xfrm>
              <a:off x="-1065161" y="3074498"/>
              <a:ext cx="24546" cy="46953"/>
            </a:xfrm>
            <a:custGeom>
              <a:avLst/>
              <a:gdLst/>
              <a:ahLst/>
              <a:cxnLst/>
              <a:rect l="l" t="t" r="r" b="b"/>
              <a:pathLst>
                <a:path w="4187" h="8009" extrusionOk="0">
                  <a:moveTo>
                    <a:pt x="1271" y="1"/>
                  </a:moveTo>
                  <a:cubicBezTo>
                    <a:pt x="1170" y="1"/>
                    <a:pt x="1067" y="15"/>
                    <a:pt x="965" y="43"/>
                  </a:cubicBezTo>
                  <a:cubicBezTo>
                    <a:pt x="341" y="224"/>
                    <a:pt x="1" y="882"/>
                    <a:pt x="193" y="1495"/>
                  </a:cubicBezTo>
                  <a:lnTo>
                    <a:pt x="1827" y="7167"/>
                  </a:lnTo>
                  <a:cubicBezTo>
                    <a:pt x="1958" y="7673"/>
                    <a:pt x="2414" y="8008"/>
                    <a:pt x="2913" y="8008"/>
                  </a:cubicBezTo>
                  <a:cubicBezTo>
                    <a:pt x="3019" y="8008"/>
                    <a:pt x="3127" y="7993"/>
                    <a:pt x="3234" y="7961"/>
                  </a:cubicBezTo>
                  <a:cubicBezTo>
                    <a:pt x="3846" y="7791"/>
                    <a:pt x="4187" y="7145"/>
                    <a:pt x="4005" y="6543"/>
                  </a:cubicBezTo>
                  <a:lnTo>
                    <a:pt x="2372" y="871"/>
                  </a:lnTo>
                  <a:cubicBezTo>
                    <a:pt x="2249" y="341"/>
                    <a:pt x="1779" y="1"/>
                    <a:pt x="127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1"/>
            <p:cNvSpPr/>
            <p:nvPr/>
          </p:nvSpPr>
          <p:spPr>
            <a:xfrm>
              <a:off x="-1291025" y="3068096"/>
              <a:ext cx="58203" cy="13308"/>
            </a:xfrm>
            <a:custGeom>
              <a:avLst/>
              <a:gdLst/>
              <a:ahLst/>
              <a:cxnLst/>
              <a:rect l="l" t="t" r="r" b="b"/>
              <a:pathLst>
                <a:path w="9928" h="2270" extrusionOk="0">
                  <a:moveTo>
                    <a:pt x="1135" y="0"/>
                  </a:moveTo>
                  <a:cubicBezTo>
                    <a:pt x="500" y="0"/>
                    <a:pt x="1" y="511"/>
                    <a:pt x="1" y="1135"/>
                  </a:cubicBezTo>
                  <a:cubicBezTo>
                    <a:pt x="1" y="1759"/>
                    <a:pt x="500" y="2269"/>
                    <a:pt x="1135" y="2269"/>
                  </a:cubicBezTo>
                  <a:lnTo>
                    <a:pt x="8804" y="2269"/>
                  </a:lnTo>
                  <a:cubicBezTo>
                    <a:pt x="9428" y="2269"/>
                    <a:pt x="9927" y="1759"/>
                    <a:pt x="9927" y="1135"/>
                  </a:cubicBezTo>
                  <a:cubicBezTo>
                    <a:pt x="9927" y="511"/>
                    <a:pt x="9428" y="0"/>
                    <a:pt x="880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1"/>
            <p:cNvSpPr/>
            <p:nvPr/>
          </p:nvSpPr>
          <p:spPr>
            <a:xfrm>
              <a:off x="-998985" y="3114650"/>
              <a:ext cx="67049" cy="13308"/>
            </a:xfrm>
            <a:custGeom>
              <a:avLst/>
              <a:gdLst/>
              <a:ahLst/>
              <a:cxnLst/>
              <a:rect l="l" t="t" r="r" b="b"/>
              <a:pathLst>
                <a:path w="11437" h="2270" extrusionOk="0">
                  <a:moveTo>
                    <a:pt x="1135" y="1"/>
                  </a:moveTo>
                  <a:cubicBezTo>
                    <a:pt x="500" y="1"/>
                    <a:pt x="1" y="511"/>
                    <a:pt x="1" y="1135"/>
                  </a:cubicBezTo>
                  <a:cubicBezTo>
                    <a:pt x="1" y="1759"/>
                    <a:pt x="500" y="2270"/>
                    <a:pt x="1135" y="2270"/>
                  </a:cubicBezTo>
                  <a:lnTo>
                    <a:pt x="10313" y="2270"/>
                  </a:lnTo>
                  <a:cubicBezTo>
                    <a:pt x="10937" y="2270"/>
                    <a:pt x="11436" y="1759"/>
                    <a:pt x="11436" y="1135"/>
                  </a:cubicBezTo>
                  <a:cubicBezTo>
                    <a:pt x="11436" y="511"/>
                    <a:pt x="10937" y="1"/>
                    <a:pt x="1031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1"/>
            <p:cNvSpPr/>
            <p:nvPr/>
          </p:nvSpPr>
          <p:spPr>
            <a:xfrm>
              <a:off x="-1011689" y="3088046"/>
              <a:ext cx="62060" cy="13308"/>
            </a:xfrm>
            <a:custGeom>
              <a:avLst/>
              <a:gdLst/>
              <a:ahLst/>
              <a:cxnLst/>
              <a:rect l="l" t="t" r="r" b="b"/>
              <a:pathLst>
                <a:path w="10586" h="2270" extrusionOk="0">
                  <a:moveTo>
                    <a:pt x="1135" y="1"/>
                  </a:moveTo>
                  <a:cubicBezTo>
                    <a:pt x="511" y="1"/>
                    <a:pt x="1" y="511"/>
                    <a:pt x="1" y="1135"/>
                  </a:cubicBezTo>
                  <a:cubicBezTo>
                    <a:pt x="1" y="1759"/>
                    <a:pt x="511" y="2270"/>
                    <a:pt x="1135" y="2270"/>
                  </a:cubicBezTo>
                  <a:lnTo>
                    <a:pt x="9451" y="2270"/>
                  </a:lnTo>
                  <a:cubicBezTo>
                    <a:pt x="10075" y="2270"/>
                    <a:pt x="10585" y="1759"/>
                    <a:pt x="10585" y="1135"/>
                  </a:cubicBezTo>
                  <a:cubicBezTo>
                    <a:pt x="10585" y="511"/>
                    <a:pt x="10075" y="1"/>
                    <a:pt x="945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1"/>
            <p:cNvSpPr/>
            <p:nvPr/>
          </p:nvSpPr>
          <p:spPr>
            <a:xfrm>
              <a:off x="-1203035" y="3074744"/>
              <a:ext cx="69377" cy="13308"/>
            </a:xfrm>
            <a:custGeom>
              <a:avLst/>
              <a:gdLst/>
              <a:ahLst/>
              <a:cxnLst/>
              <a:rect l="l" t="t" r="r" b="b"/>
              <a:pathLst>
                <a:path w="11834" h="2270" extrusionOk="0">
                  <a:moveTo>
                    <a:pt x="1135" y="1"/>
                  </a:moveTo>
                  <a:cubicBezTo>
                    <a:pt x="500" y="1"/>
                    <a:pt x="1" y="511"/>
                    <a:pt x="1" y="1135"/>
                  </a:cubicBezTo>
                  <a:cubicBezTo>
                    <a:pt x="1" y="1759"/>
                    <a:pt x="500" y="2270"/>
                    <a:pt x="1135" y="2270"/>
                  </a:cubicBezTo>
                  <a:lnTo>
                    <a:pt x="10699" y="2270"/>
                  </a:lnTo>
                  <a:cubicBezTo>
                    <a:pt x="11323" y="2270"/>
                    <a:pt x="11833" y="1759"/>
                    <a:pt x="11833" y="1135"/>
                  </a:cubicBezTo>
                  <a:cubicBezTo>
                    <a:pt x="11833" y="511"/>
                    <a:pt x="11323" y="1"/>
                    <a:pt x="1069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-1119700" y="3074744"/>
              <a:ext cx="68779" cy="13308"/>
            </a:xfrm>
            <a:custGeom>
              <a:avLst/>
              <a:gdLst/>
              <a:ahLst/>
              <a:cxnLst/>
              <a:rect l="l" t="t" r="r" b="b"/>
              <a:pathLst>
                <a:path w="11732" h="2270" extrusionOk="0">
                  <a:moveTo>
                    <a:pt x="1135" y="1"/>
                  </a:moveTo>
                  <a:cubicBezTo>
                    <a:pt x="511" y="1"/>
                    <a:pt x="1" y="511"/>
                    <a:pt x="1" y="1135"/>
                  </a:cubicBezTo>
                  <a:cubicBezTo>
                    <a:pt x="1" y="1759"/>
                    <a:pt x="511" y="2270"/>
                    <a:pt x="1135" y="2270"/>
                  </a:cubicBezTo>
                  <a:lnTo>
                    <a:pt x="10597" y="2270"/>
                  </a:lnTo>
                  <a:cubicBezTo>
                    <a:pt x="11221" y="2270"/>
                    <a:pt x="11731" y="1759"/>
                    <a:pt x="11731" y="1135"/>
                  </a:cubicBezTo>
                  <a:cubicBezTo>
                    <a:pt x="11731" y="511"/>
                    <a:pt x="11221" y="1"/>
                    <a:pt x="1059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1"/>
            <p:cNvSpPr/>
            <p:nvPr/>
          </p:nvSpPr>
          <p:spPr>
            <a:xfrm>
              <a:off x="-1212544" y="3108002"/>
              <a:ext cx="171132" cy="13308"/>
            </a:xfrm>
            <a:custGeom>
              <a:avLst/>
              <a:gdLst/>
              <a:ahLst/>
              <a:cxnLst/>
              <a:rect l="l" t="t" r="r" b="b"/>
              <a:pathLst>
                <a:path w="29191" h="2270" extrusionOk="0">
                  <a:moveTo>
                    <a:pt x="1135" y="0"/>
                  </a:moveTo>
                  <a:cubicBezTo>
                    <a:pt x="500" y="0"/>
                    <a:pt x="1" y="511"/>
                    <a:pt x="1" y="1135"/>
                  </a:cubicBezTo>
                  <a:cubicBezTo>
                    <a:pt x="1" y="1759"/>
                    <a:pt x="500" y="2269"/>
                    <a:pt x="1135" y="2269"/>
                  </a:cubicBezTo>
                  <a:lnTo>
                    <a:pt x="28056" y="2269"/>
                  </a:lnTo>
                  <a:cubicBezTo>
                    <a:pt x="28680" y="2269"/>
                    <a:pt x="29191" y="1759"/>
                    <a:pt x="29191" y="1135"/>
                  </a:cubicBezTo>
                  <a:cubicBezTo>
                    <a:pt x="29191" y="511"/>
                    <a:pt x="28680" y="0"/>
                    <a:pt x="280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1"/>
            <p:cNvSpPr/>
            <p:nvPr/>
          </p:nvSpPr>
          <p:spPr>
            <a:xfrm>
              <a:off x="-1233426" y="2815364"/>
              <a:ext cx="212832" cy="285973"/>
            </a:xfrm>
            <a:custGeom>
              <a:avLst/>
              <a:gdLst/>
              <a:ahLst/>
              <a:cxnLst/>
              <a:rect l="l" t="t" r="r" b="b"/>
              <a:pathLst>
                <a:path w="36304" h="48780" extrusionOk="0">
                  <a:moveTo>
                    <a:pt x="18152" y="2269"/>
                  </a:moveTo>
                  <a:cubicBezTo>
                    <a:pt x="26921" y="2269"/>
                    <a:pt x="34035" y="9382"/>
                    <a:pt x="34035" y="18152"/>
                  </a:cubicBezTo>
                  <a:cubicBezTo>
                    <a:pt x="34035" y="30336"/>
                    <a:pt x="21397" y="43054"/>
                    <a:pt x="18152" y="46105"/>
                  </a:cubicBezTo>
                  <a:cubicBezTo>
                    <a:pt x="14919" y="43042"/>
                    <a:pt x="2269" y="30336"/>
                    <a:pt x="2269" y="18152"/>
                  </a:cubicBezTo>
                  <a:cubicBezTo>
                    <a:pt x="2269" y="9382"/>
                    <a:pt x="9382" y="2269"/>
                    <a:pt x="18152" y="2269"/>
                  </a:cubicBezTo>
                  <a:close/>
                  <a:moveTo>
                    <a:pt x="18152" y="0"/>
                  </a:moveTo>
                  <a:cubicBezTo>
                    <a:pt x="8146" y="0"/>
                    <a:pt x="0" y="8146"/>
                    <a:pt x="0" y="18152"/>
                  </a:cubicBezTo>
                  <a:cubicBezTo>
                    <a:pt x="0" y="33082"/>
                    <a:pt x="16700" y="47886"/>
                    <a:pt x="17403" y="48499"/>
                  </a:cubicBezTo>
                  <a:cubicBezTo>
                    <a:pt x="17619" y="48686"/>
                    <a:pt x="17885" y="48780"/>
                    <a:pt x="18152" y="48780"/>
                  </a:cubicBezTo>
                  <a:cubicBezTo>
                    <a:pt x="18419" y="48780"/>
                    <a:pt x="18685" y="48686"/>
                    <a:pt x="18901" y="48499"/>
                  </a:cubicBezTo>
                  <a:cubicBezTo>
                    <a:pt x="19615" y="47875"/>
                    <a:pt x="36304" y="33082"/>
                    <a:pt x="36304" y="18152"/>
                  </a:cubicBezTo>
                  <a:cubicBezTo>
                    <a:pt x="36292" y="8134"/>
                    <a:pt x="28169" y="11"/>
                    <a:pt x="1815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1"/>
            <p:cNvSpPr/>
            <p:nvPr/>
          </p:nvSpPr>
          <p:spPr>
            <a:xfrm>
              <a:off x="-1273332" y="3041492"/>
              <a:ext cx="109277" cy="13308"/>
            </a:xfrm>
            <a:custGeom>
              <a:avLst/>
              <a:gdLst/>
              <a:ahLst/>
              <a:cxnLst/>
              <a:rect l="l" t="t" r="r" b="b"/>
              <a:pathLst>
                <a:path w="18640" h="2270" extrusionOk="0">
                  <a:moveTo>
                    <a:pt x="1135" y="0"/>
                  </a:moveTo>
                  <a:cubicBezTo>
                    <a:pt x="511" y="0"/>
                    <a:pt x="0" y="511"/>
                    <a:pt x="0" y="1135"/>
                  </a:cubicBezTo>
                  <a:cubicBezTo>
                    <a:pt x="0" y="1759"/>
                    <a:pt x="511" y="2269"/>
                    <a:pt x="1135" y="2269"/>
                  </a:cubicBezTo>
                  <a:lnTo>
                    <a:pt x="17505" y="2269"/>
                  </a:lnTo>
                  <a:cubicBezTo>
                    <a:pt x="18129" y="2269"/>
                    <a:pt x="18640" y="1759"/>
                    <a:pt x="18640" y="1135"/>
                  </a:cubicBezTo>
                  <a:cubicBezTo>
                    <a:pt x="18640" y="511"/>
                    <a:pt x="18129" y="0"/>
                    <a:pt x="1750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1"/>
            <p:cNvSpPr/>
            <p:nvPr/>
          </p:nvSpPr>
          <p:spPr>
            <a:xfrm>
              <a:off x="-1089971" y="3041492"/>
              <a:ext cx="109283" cy="13308"/>
            </a:xfrm>
            <a:custGeom>
              <a:avLst/>
              <a:gdLst/>
              <a:ahLst/>
              <a:cxnLst/>
              <a:rect l="l" t="t" r="r" b="b"/>
              <a:pathLst>
                <a:path w="18641" h="2270" extrusionOk="0">
                  <a:moveTo>
                    <a:pt x="1135" y="0"/>
                  </a:moveTo>
                  <a:cubicBezTo>
                    <a:pt x="511" y="0"/>
                    <a:pt x="1" y="511"/>
                    <a:pt x="1" y="1135"/>
                  </a:cubicBezTo>
                  <a:cubicBezTo>
                    <a:pt x="1" y="1759"/>
                    <a:pt x="511" y="2269"/>
                    <a:pt x="1135" y="2269"/>
                  </a:cubicBezTo>
                  <a:lnTo>
                    <a:pt x="17506" y="2269"/>
                  </a:lnTo>
                  <a:cubicBezTo>
                    <a:pt x="18130" y="2269"/>
                    <a:pt x="18640" y="1759"/>
                    <a:pt x="18640" y="1135"/>
                  </a:cubicBezTo>
                  <a:cubicBezTo>
                    <a:pt x="18640" y="511"/>
                    <a:pt x="18130" y="0"/>
                    <a:pt x="175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1"/>
            <p:cNvSpPr/>
            <p:nvPr/>
          </p:nvSpPr>
          <p:spPr>
            <a:xfrm>
              <a:off x="-1173570" y="2961680"/>
              <a:ext cx="93120" cy="13308"/>
            </a:xfrm>
            <a:custGeom>
              <a:avLst/>
              <a:gdLst/>
              <a:ahLst/>
              <a:cxnLst/>
              <a:rect l="l" t="t" r="r" b="b"/>
              <a:pathLst>
                <a:path w="15884" h="2270" extrusionOk="0">
                  <a:moveTo>
                    <a:pt x="1135" y="1"/>
                  </a:moveTo>
                  <a:cubicBezTo>
                    <a:pt x="511" y="1"/>
                    <a:pt x="1" y="511"/>
                    <a:pt x="1" y="1135"/>
                  </a:cubicBezTo>
                  <a:cubicBezTo>
                    <a:pt x="1" y="1759"/>
                    <a:pt x="511" y="2270"/>
                    <a:pt x="1135" y="2270"/>
                  </a:cubicBezTo>
                  <a:lnTo>
                    <a:pt x="14749" y="2270"/>
                  </a:lnTo>
                  <a:cubicBezTo>
                    <a:pt x="15373" y="2270"/>
                    <a:pt x="15883" y="1759"/>
                    <a:pt x="15883" y="1135"/>
                  </a:cubicBezTo>
                  <a:cubicBezTo>
                    <a:pt x="15883" y="511"/>
                    <a:pt x="15373" y="1"/>
                    <a:pt x="1474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1"/>
            <p:cNvSpPr/>
            <p:nvPr/>
          </p:nvSpPr>
          <p:spPr>
            <a:xfrm>
              <a:off x="-1166916" y="2881868"/>
              <a:ext cx="13308" cy="93120"/>
            </a:xfrm>
            <a:custGeom>
              <a:avLst/>
              <a:gdLst/>
              <a:ahLst/>
              <a:cxnLst/>
              <a:rect l="l" t="t" r="r" b="b"/>
              <a:pathLst>
                <a:path w="2270" h="15884" extrusionOk="0">
                  <a:moveTo>
                    <a:pt x="1135" y="1"/>
                  </a:moveTo>
                  <a:cubicBezTo>
                    <a:pt x="511" y="1"/>
                    <a:pt x="0" y="511"/>
                    <a:pt x="0" y="1135"/>
                  </a:cubicBezTo>
                  <a:lnTo>
                    <a:pt x="0" y="14749"/>
                  </a:lnTo>
                  <a:cubicBezTo>
                    <a:pt x="0" y="15373"/>
                    <a:pt x="511" y="15884"/>
                    <a:pt x="1135" y="15884"/>
                  </a:cubicBezTo>
                  <a:cubicBezTo>
                    <a:pt x="1759" y="15884"/>
                    <a:pt x="2269" y="15373"/>
                    <a:pt x="2269" y="14749"/>
                  </a:cubicBezTo>
                  <a:lnTo>
                    <a:pt x="2269" y="1135"/>
                  </a:lnTo>
                  <a:cubicBezTo>
                    <a:pt x="2269" y="511"/>
                    <a:pt x="1759" y="1"/>
                    <a:pt x="113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1"/>
            <p:cNvSpPr/>
            <p:nvPr/>
          </p:nvSpPr>
          <p:spPr>
            <a:xfrm>
              <a:off x="-1100412" y="2905611"/>
              <a:ext cx="13308" cy="69377"/>
            </a:xfrm>
            <a:custGeom>
              <a:avLst/>
              <a:gdLst/>
              <a:ahLst/>
              <a:cxnLst/>
              <a:rect l="l" t="t" r="r" b="b"/>
              <a:pathLst>
                <a:path w="2270" h="11834" extrusionOk="0">
                  <a:moveTo>
                    <a:pt x="1135" y="1"/>
                  </a:moveTo>
                  <a:cubicBezTo>
                    <a:pt x="511" y="1"/>
                    <a:pt x="1" y="511"/>
                    <a:pt x="1" y="1135"/>
                  </a:cubicBezTo>
                  <a:lnTo>
                    <a:pt x="1" y="10699"/>
                  </a:lnTo>
                  <a:cubicBezTo>
                    <a:pt x="1" y="11323"/>
                    <a:pt x="511" y="11834"/>
                    <a:pt x="1135" y="11834"/>
                  </a:cubicBezTo>
                  <a:cubicBezTo>
                    <a:pt x="1759" y="11834"/>
                    <a:pt x="2270" y="11323"/>
                    <a:pt x="2270" y="10699"/>
                  </a:cubicBezTo>
                  <a:lnTo>
                    <a:pt x="2270" y="1135"/>
                  </a:lnTo>
                  <a:cubicBezTo>
                    <a:pt x="2270" y="511"/>
                    <a:pt x="1759" y="1"/>
                    <a:pt x="113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1"/>
            <p:cNvSpPr/>
            <p:nvPr/>
          </p:nvSpPr>
          <p:spPr>
            <a:xfrm>
              <a:off x="-1180886" y="2881891"/>
              <a:ext cx="61392" cy="46402"/>
            </a:xfrm>
            <a:custGeom>
              <a:avLst/>
              <a:gdLst/>
              <a:ahLst/>
              <a:cxnLst/>
              <a:rect l="l" t="t" r="r" b="b"/>
              <a:pathLst>
                <a:path w="10472" h="7915" extrusionOk="0">
                  <a:moveTo>
                    <a:pt x="9193" y="0"/>
                  </a:moveTo>
                  <a:cubicBezTo>
                    <a:pt x="8964" y="0"/>
                    <a:pt x="8733" y="69"/>
                    <a:pt x="8532" y="212"/>
                  </a:cubicBezTo>
                  <a:lnTo>
                    <a:pt x="591" y="5885"/>
                  </a:lnTo>
                  <a:cubicBezTo>
                    <a:pt x="103" y="6259"/>
                    <a:pt x="1" y="6940"/>
                    <a:pt x="364" y="7439"/>
                  </a:cubicBezTo>
                  <a:cubicBezTo>
                    <a:pt x="582" y="7749"/>
                    <a:pt x="931" y="7914"/>
                    <a:pt x="1283" y="7914"/>
                  </a:cubicBezTo>
                  <a:cubicBezTo>
                    <a:pt x="1499" y="7914"/>
                    <a:pt x="1717" y="7852"/>
                    <a:pt x="1907" y="7723"/>
                  </a:cubicBezTo>
                  <a:lnTo>
                    <a:pt x="9848" y="2050"/>
                  </a:lnTo>
                  <a:cubicBezTo>
                    <a:pt x="10358" y="1687"/>
                    <a:pt x="10472" y="984"/>
                    <a:pt x="10120" y="473"/>
                  </a:cubicBezTo>
                  <a:cubicBezTo>
                    <a:pt x="9893" y="164"/>
                    <a:pt x="9546" y="0"/>
                    <a:pt x="919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1"/>
            <p:cNvSpPr/>
            <p:nvPr/>
          </p:nvSpPr>
          <p:spPr>
            <a:xfrm>
              <a:off x="-1134327" y="2882009"/>
              <a:ext cx="61193" cy="46284"/>
            </a:xfrm>
            <a:custGeom>
              <a:avLst/>
              <a:gdLst/>
              <a:ahLst/>
              <a:cxnLst/>
              <a:rect l="l" t="t" r="r" b="b"/>
              <a:pathLst>
                <a:path w="10438" h="7895" extrusionOk="0">
                  <a:moveTo>
                    <a:pt x="1283" y="1"/>
                  </a:moveTo>
                  <a:cubicBezTo>
                    <a:pt x="930" y="1"/>
                    <a:pt x="581" y="167"/>
                    <a:pt x="363" y="476"/>
                  </a:cubicBezTo>
                  <a:cubicBezTo>
                    <a:pt x="0" y="975"/>
                    <a:pt x="102" y="1656"/>
                    <a:pt x="590" y="2030"/>
                  </a:cubicBezTo>
                  <a:lnTo>
                    <a:pt x="8531" y="7703"/>
                  </a:lnTo>
                  <a:cubicBezTo>
                    <a:pt x="8725" y="7832"/>
                    <a:pt x="8944" y="7894"/>
                    <a:pt x="9160" y="7894"/>
                  </a:cubicBezTo>
                  <a:cubicBezTo>
                    <a:pt x="9513" y="7894"/>
                    <a:pt x="9860" y="7729"/>
                    <a:pt x="10086" y="7419"/>
                  </a:cubicBezTo>
                  <a:cubicBezTo>
                    <a:pt x="10437" y="6920"/>
                    <a:pt x="10335" y="6239"/>
                    <a:pt x="9847" y="5865"/>
                  </a:cubicBezTo>
                  <a:lnTo>
                    <a:pt x="1906" y="192"/>
                  </a:lnTo>
                  <a:cubicBezTo>
                    <a:pt x="1716" y="63"/>
                    <a:pt x="1499" y="1"/>
                    <a:pt x="128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-1133664" y="2941730"/>
              <a:ext cx="13308" cy="33258"/>
            </a:xfrm>
            <a:custGeom>
              <a:avLst/>
              <a:gdLst/>
              <a:ahLst/>
              <a:cxnLst/>
              <a:rect l="l" t="t" r="r" b="b"/>
              <a:pathLst>
                <a:path w="2270" h="5673" extrusionOk="0">
                  <a:moveTo>
                    <a:pt x="1135" y="0"/>
                  </a:moveTo>
                  <a:cubicBezTo>
                    <a:pt x="511" y="0"/>
                    <a:pt x="0" y="511"/>
                    <a:pt x="0" y="1135"/>
                  </a:cubicBezTo>
                  <a:lnTo>
                    <a:pt x="0" y="4538"/>
                  </a:lnTo>
                  <a:cubicBezTo>
                    <a:pt x="0" y="5162"/>
                    <a:pt x="511" y="5673"/>
                    <a:pt x="1135" y="5673"/>
                  </a:cubicBezTo>
                  <a:cubicBezTo>
                    <a:pt x="1759" y="5673"/>
                    <a:pt x="2269" y="5162"/>
                    <a:pt x="2269" y="4538"/>
                  </a:cubicBezTo>
                  <a:lnTo>
                    <a:pt x="2269" y="1135"/>
                  </a:lnTo>
                  <a:cubicBezTo>
                    <a:pt x="2269" y="511"/>
                    <a:pt x="1759" y="0"/>
                    <a:pt x="113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" name="Google Shape;662;p21"/>
          <p:cNvSpPr txBox="1"/>
          <p:nvPr/>
        </p:nvSpPr>
        <p:spPr>
          <a:xfrm>
            <a:off x="5303882" y="2717638"/>
            <a:ext cx="1271897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CAPACIDAD</a:t>
            </a:r>
            <a:endParaRPr sz="900"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La capacidad pasa de 8 a 10 tasaciones diarias por profesional certificado, a virtualmente ilimitada</a:t>
            </a:r>
            <a:endParaRPr sz="10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63" name="Google Shape;663;p21"/>
          <p:cNvSpPr txBox="1"/>
          <p:nvPr/>
        </p:nvSpPr>
        <p:spPr>
          <a:xfrm>
            <a:off x="7087651" y="2718536"/>
            <a:ext cx="149655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DISPONIBILIDAD</a:t>
            </a:r>
            <a:endParaRPr sz="900"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Disponible 24/7 desde cualquier dispositivo</a:t>
            </a:r>
            <a:endParaRPr sz="10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664" name="Google Shape;664;p21"/>
          <p:cNvGrpSpPr/>
          <p:nvPr/>
        </p:nvGrpSpPr>
        <p:grpSpPr>
          <a:xfrm>
            <a:off x="7665729" y="2141690"/>
            <a:ext cx="348578" cy="424832"/>
            <a:chOff x="-758687" y="3096512"/>
            <a:chExt cx="348578" cy="424832"/>
          </a:xfrm>
        </p:grpSpPr>
        <p:sp>
          <p:nvSpPr>
            <p:cNvPr id="665" name="Google Shape;665;p21"/>
            <p:cNvSpPr/>
            <p:nvPr/>
          </p:nvSpPr>
          <p:spPr>
            <a:xfrm>
              <a:off x="-758687" y="3096512"/>
              <a:ext cx="348578" cy="424832"/>
            </a:xfrm>
            <a:custGeom>
              <a:avLst/>
              <a:gdLst/>
              <a:ahLst/>
              <a:cxnLst/>
              <a:rect l="l" t="t" r="r" b="b"/>
              <a:pathLst>
                <a:path w="59459" h="72466" extrusionOk="0">
                  <a:moveTo>
                    <a:pt x="29735" y="3174"/>
                  </a:moveTo>
                  <a:cubicBezTo>
                    <a:pt x="37177" y="8540"/>
                    <a:pt x="45742" y="12114"/>
                    <a:pt x="54784" y="13634"/>
                  </a:cubicBezTo>
                  <a:lnTo>
                    <a:pt x="56633" y="13940"/>
                  </a:lnTo>
                  <a:lnTo>
                    <a:pt x="56622" y="23493"/>
                  </a:lnTo>
                  <a:cubicBezTo>
                    <a:pt x="56622" y="38820"/>
                    <a:pt x="52039" y="51253"/>
                    <a:pt x="42986" y="60443"/>
                  </a:cubicBezTo>
                  <a:cubicBezTo>
                    <a:pt x="37211" y="66285"/>
                    <a:pt x="31369" y="68883"/>
                    <a:pt x="29735" y="69541"/>
                  </a:cubicBezTo>
                  <a:cubicBezTo>
                    <a:pt x="28090" y="68883"/>
                    <a:pt x="22247" y="66285"/>
                    <a:pt x="16484" y="60443"/>
                  </a:cubicBezTo>
                  <a:cubicBezTo>
                    <a:pt x="7431" y="51253"/>
                    <a:pt x="2837" y="38820"/>
                    <a:pt x="2837" y="23493"/>
                  </a:cubicBezTo>
                  <a:lnTo>
                    <a:pt x="2837" y="13940"/>
                  </a:lnTo>
                  <a:lnTo>
                    <a:pt x="4686" y="13634"/>
                  </a:lnTo>
                  <a:cubicBezTo>
                    <a:pt x="13727" y="12114"/>
                    <a:pt x="22293" y="8540"/>
                    <a:pt x="29735" y="3174"/>
                  </a:cubicBezTo>
                  <a:close/>
                  <a:moveTo>
                    <a:pt x="29731" y="0"/>
                  </a:moveTo>
                  <a:cubicBezTo>
                    <a:pt x="29431" y="0"/>
                    <a:pt x="29134" y="94"/>
                    <a:pt x="28884" y="281"/>
                  </a:cubicBezTo>
                  <a:cubicBezTo>
                    <a:pt x="21612" y="5715"/>
                    <a:pt x="13149" y="9334"/>
                    <a:pt x="4209" y="10843"/>
                  </a:cubicBezTo>
                  <a:lnTo>
                    <a:pt x="1180" y="11342"/>
                  </a:lnTo>
                  <a:cubicBezTo>
                    <a:pt x="499" y="11456"/>
                    <a:pt x="0" y="12046"/>
                    <a:pt x="0" y="12738"/>
                  </a:cubicBezTo>
                  <a:lnTo>
                    <a:pt x="0" y="23493"/>
                  </a:lnTo>
                  <a:cubicBezTo>
                    <a:pt x="0" y="38150"/>
                    <a:pt x="4198" y="52082"/>
                    <a:pt x="14567" y="62530"/>
                  </a:cubicBezTo>
                  <a:cubicBezTo>
                    <a:pt x="21794" y="69825"/>
                    <a:pt x="28964" y="72287"/>
                    <a:pt x="29270" y="72389"/>
                  </a:cubicBezTo>
                  <a:cubicBezTo>
                    <a:pt x="29417" y="72440"/>
                    <a:pt x="29570" y="72465"/>
                    <a:pt x="29724" y="72465"/>
                  </a:cubicBezTo>
                  <a:cubicBezTo>
                    <a:pt x="29877" y="72465"/>
                    <a:pt x="30030" y="72440"/>
                    <a:pt x="30177" y="72389"/>
                  </a:cubicBezTo>
                  <a:cubicBezTo>
                    <a:pt x="30472" y="72287"/>
                    <a:pt x="37654" y="69825"/>
                    <a:pt x="44880" y="62530"/>
                  </a:cubicBezTo>
                  <a:cubicBezTo>
                    <a:pt x="55238" y="52082"/>
                    <a:pt x="59447" y="38150"/>
                    <a:pt x="59447" y="23493"/>
                  </a:cubicBezTo>
                  <a:lnTo>
                    <a:pt x="59458" y="12738"/>
                  </a:lnTo>
                  <a:cubicBezTo>
                    <a:pt x="59458" y="12046"/>
                    <a:pt x="58959" y="11456"/>
                    <a:pt x="58278" y="11342"/>
                  </a:cubicBezTo>
                  <a:lnTo>
                    <a:pt x="55261" y="10843"/>
                  </a:lnTo>
                  <a:cubicBezTo>
                    <a:pt x="46310" y="9334"/>
                    <a:pt x="37846" y="5715"/>
                    <a:pt x="30586" y="281"/>
                  </a:cubicBezTo>
                  <a:cubicBezTo>
                    <a:pt x="30331" y="94"/>
                    <a:pt x="30030" y="0"/>
                    <a:pt x="2973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1"/>
            <p:cNvSpPr/>
            <p:nvPr/>
          </p:nvSpPr>
          <p:spPr>
            <a:xfrm>
              <a:off x="-725435" y="3267421"/>
              <a:ext cx="19159" cy="16632"/>
            </a:xfrm>
            <a:custGeom>
              <a:avLst/>
              <a:gdLst/>
              <a:ahLst/>
              <a:cxnLst/>
              <a:rect l="l" t="t" r="r" b="b"/>
              <a:pathLst>
                <a:path w="3268" h="2837" extrusionOk="0">
                  <a:moveTo>
                    <a:pt x="1419" y="1"/>
                  </a:moveTo>
                  <a:cubicBezTo>
                    <a:pt x="636" y="1"/>
                    <a:pt x="1" y="636"/>
                    <a:pt x="1" y="1419"/>
                  </a:cubicBezTo>
                  <a:cubicBezTo>
                    <a:pt x="1" y="2202"/>
                    <a:pt x="636" y="2837"/>
                    <a:pt x="1419" y="2837"/>
                  </a:cubicBezTo>
                  <a:cubicBezTo>
                    <a:pt x="1612" y="2837"/>
                    <a:pt x="1793" y="2803"/>
                    <a:pt x="1963" y="2735"/>
                  </a:cubicBezTo>
                  <a:cubicBezTo>
                    <a:pt x="3268" y="2179"/>
                    <a:pt x="3052" y="273"/>
                    <a:pt x="1657" y="23"/>
                  </a:cubicBezTo>
                  <a:cubicBezTo>
                    <a:pt x="1578" y="12"/>
                    <a:pt x="1498" y="1"/>
                    <a:pt x="141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1"/>
            <p:cNvSpPr/>
            <p:nvPr/>
          </p:nvSpPr>
          <p:spPr>
            <a:xfrm>
              <a:off x="-725364" y="3136980"/>
              <a:ext cx="282068" cy="348795"/>
            </a:xfrm>
            <a:custGeom>
              <a:avLst/>
              <a:gdLst/>
              <a:ahLst/>
              <a:cxnLst/>
              <a:rect l="l" t="t" r="r" b="b"/>
              <a:pathLst>
                <a:path w="48114" h="59496" extrusionOk="0">
                  <a:moveTo>
                    <a:pt x="24055" y="1"/>
                  </a:moveTo>
                  <a:cubicBezTo>
                    <a:pt x="23787" y="1"/>
                    <a:pt x="23518" y="77"/>
                    <a:pt x="23280" y="230"/>
                  </a:cubicBezTo>
                  <a:cubicBezTo>
                    <a:pt x="16552" y="4632"/>
                    <a:pt x="9030" y="7684"/>
                    <a:pt x="1135" y="9216"/>
                  </a:cubicBezTo>
                  <a:cubicBezTo>
                    <a:pt x="477" y="9352"/>
                    <a:pt x="0" y="9930"/>
                    <a:pt x="0" y="10611"/>
                  </a:cubicBezTo>
                  <a:cubicBezTo>
                    <a:pt x="0" y="10611"/>
                    <a:pt x="0" y="17577"/>
                    <a:pt x="11" y="18042"/>
                  </a:cubicBezTo>
                  <a:cubicBezTo>
                    <a:pt x="34" y="18813"/>
                    <a:pt x="658" y="19426"/>
                    <a:pt x="1429" y="19426"/>
                  </a:cubicBezTo>
                  <a:lnTo>
                    <a:pt x="1464" y="19426"/>
                  </a:lnTo>
                  <a:cubicBezTo>
                    <a:pt x="2246" y="19403"/>
                    <a:pt x="2859" y="18757"/>
                    <a:pt x="2848" y="17974"/>
                  </a:cubicBezTo>
                  <a:cubicBezTo>
                    <a:pt x="2836" y="17543"/>
                    <a:pt x="2836" y="11757"/>
                    <a:pt x="2836" y="11757"/>
                  </a:cubicBezTo>
                  <a:cubicBezTo>
                    <a:pt x="10369" y="10157"/>
                    <a:pt x="17550" y="7219"/>
                    <a:pt x="24051" y="3101"/>
                  </a:cubicBezTo>
                  <a:cubicBezTo>
                    <a:pt x="30574" y="7208"/>
                    <a:pt x="37755" y="10134"/>
                    <a:pt x="45288" y="11757"/>
                  </a:cubicBezTo>
                  <a:lnTo>
                    <a:pt x="45288" y="16590"/>
                  </a:lnTo>
                  <a:cubicBezTo>
                    <a:pt x="45288" y="37804"/>
                    <a:pt x="34840" y="51362"/>
                    <a:pt x="24051" y="56523"/>
                  </a:cubicBezTo>
                  <a:cubicBezTo>
                    <a:pt x="15191" y="52280"/>
                    <a:pt x="6966" y="42297"/>
                    <a:pt x="4061" y="28887"/>
                  </a:cubicBezTo>
                  <a:cubicBezTo>
                    <a:pt x="3952" y="28183"/>
                    <a:pt x="3349" y="27687"/>
                    <a:pt x="2669" y="27687"/>
                  </a:cubicBezTo>
                  <a:cubicBezTo>
                    <a:pt x="2571" y="27687"/>
                    <a:pt x="2471" y="27698"/>
                    <a:pt x="2371" y="27719"/>
                  </a:cubicBezTo>
                  <a:cubicBezTo>
                    <a:pt x="1566" y="27900"/>
                    <a:pt x="1078" y="28695"/>
                    <a:pt x="1293" y="29489"/>
                  </a:cubicBezTo>
                  <a:cubicBezTo>
                    <a:pt x="4504" y="44294"/>
                    <a:pt x="13863" y="55128"/>
                    <a:pt x="23472" y="59371"/>
                  </a:cubicBezTo>
                  <a:cubicBezTo>
                    <a:pt x="23654" y="59450"/>
                    <a:pt x="23847" y="59496"/>
                    <a:pt x="24040" y="59496"/>
                  </a:cubicBezTo>
                  <a:cubicBezTo>
                    <a:pt x="24244" y="59496"/>
                    <a:pt x="24437" y="59450"/>
                    <a:pt x="24618" y="59371"/>
                  </a:cubicBezTo>
                  <a:cubicBezTo>
                    <a:pt x="36859" y="53903"/>
                    <a:pt x="48113" y="39007"/>
                    <a:pt x="48113" y="16590"/>
                  </a:cubicBezTo>
                  <a:lnTo>
                    <a:pt x="48113" y="10600"/>
                  </a:lnTo>
                  <a:cubicBezTo>
                    <a:pt x="48113" y="9930"/>
                    <a:pt x="47637" y="9352"/>
                    <a:pt x="46967" y="9216"/>
                  </a:cubicBezTo>
                  <a:cubicBezTo>
                    <a:pt x="39083" y="7661"/>
                    <a:pt x="31573" y="4610"/>
                    <a:pt x="24822" y="230"/>
                  </a:cubicBezTo>
                  <a:cubicBezTo>
                    <a:pt x="24590" y="77"/>
                    <a:pt x="24323" y="1"/>
                    <a:pt x="2405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1"/>
            <p:cNvSpPr/>
            <p:nvPr/>
          </p:nvSpPr>
          <p:spPr>
            <a:xfrm>
              <a:off x="-617559" y="3300679"/>
              <a:ext cx="58138" cy="49737"/>
            </a:xfrm>
            <a:custGeom>
              <a:avLst/>
              <a:gdLst/>
              <a:ahLst/>
              <a:cxnLst/>
              <a:rect l="l" t="t" r="r" b="b"/>
              <a:pathLst>
                <a:path w="9917" h="8484" extrusionOk="0">
                  <a:moveTo>
                    <a:pt x="5656" y="2814"/>
                  </a:moveTo>
                  <a:cubicBezTo>
                    <a:pt x="6384" y="2814"/>
                    <a:pt x="7080" y="3383"/>
                    <a:pt x="7080" y="4243"/>
                  </a:cubicBezTo>
                  <a:cubicBezTo>
                    <a:pt x="7080" y="5015"/>
                    <a:pt x="6445" y="5650"/>
                    <a:pt x="5662" y="5650"/>
                  </a:cubicBezTo>
                  <a:lnTo>
                    <a:pt x="5662" y="5661"/>
                  </a:lnTo>
                  <a:cubicBezTo>
                    <a:pt x="4403" y="5661"/>
                    <a:pt x="3767" y="4130"/>
                    <a:pt x="4664" y="3233"/>
                  </a:cubicBezTo>
                  <a:cubicBezTo>
                    <a:pt x="4953" y="2944"/>
                    <a:pt x="5308" y="2814"/>
                    <a:pt x="5656" y="2814"/>
                  </a:cubicBezTo>
                  <a:close/>
                  <a:moveTo>
                    <a:pt x="5683" y="0"/>
                  </a:moveTo>
                  <a:cubicBezTo>
                    <a:pt x="5676" y="0"/>
                    <a:pt x="5669" y="0"/>
                    <a:pt x="5662" y="0"/>
                  </a:cubicBezTo>
                  <a:cubicBezTo>
                    <a:pt x="1884" y="0"/>
                    <a:pt x="1" y="4572"/>
                    <a:pt x="2678" y="7249"/>
                  </a:cubicBezTo>
                  <a:cubicBezTo>
                    <a:pt x="3487" y="8058"/>
                    <a:pt x="4567" y="8484"/>
                    <a:pt x="5664" y="8484"/>
                  </a:cubicBezTo>
                  <a:cubicBezTo>
                    <a:pt x="6214" y="8484"/>
                    <a:pt x="6769" y="8377"/>
                    <a:pt x="7296" y="8157"/>
                  </a:cubicBezTo>
                  <a:cubicBezTo>
                    <a:pt x="8884" y="7499"/>
                    <a:pt x="9916" y="5956"/>
                    <a:pt x="9916" y="4243"/>
                  </a:cubicBezTo>
                  <a:cubicBezTo>
                    <a:pt x="9916" y="1902"/>
                    <a:pt x="8022" y="0"/>
                    <a:pt x="568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1"/>
            <p:cNvSpPr/>
            <p:nvPr/>
          </p:nvSpPr>
          <p:spPr>
            <a:xfrm>
              <a:off x="-642433" y="3217672"/>
              <a:ext cx="116201" cy="166014"/>
            </a:xfrm>
            <a:custGeom>
              <a:avLst/>
              <a:gdLst/>
              <a:ahLst/>
              <a:cxnLst/>
              <a:rect l="l" t="t" r="r" b="b"/>
              <a:pathLst>
                <a:path w="19821" h="28318" extrusionOk="0">
                  <a:moveTo>
                    <a:pt x="9905" y="2905"/>
                  </a:moveTo>
                  <a:cubicBezTo>
                    <a:pt x="12219" y="2905"/>
                    <a:pt x="14114" y="4754"/>
                    <a:pt x="14159" y="7080"/>
                  </a:cubicBezTo>
                  <a:lnTo>
                    <a:pt x="14159" y="8498"/>
                  </a:lnTo>
                  <a:lnTo>
                    <a:pt x="5662" y="8498"/>
                  </a:lnTo>
                  <a:lnTo>
                    <a:pt x="5662" y="7080"/>
                  </a:lnTo>
                  <a:cubicBezTo>
                    <a:pt x="5707" y="4754"/>
                    <a:pt x="7591" y="2905"/>
                    <a:pt x="9905" y="2905"/>
                  </a:cubicBezTo>
                  <a:close/>
                  <a:moveTo>
                    <a:pt x="16984" y="11323"/>
                  </a:moveTo>
                  <a:lnTo>
                    <a:pt x="16984" y="25470"/>
                  </a:lnTo>
                  <a:lnTo>
                    <a:pt x="2837" y="25470"/>
                  </a:lnTo>
                  <a:lnTo>
                    <a:pt x="2837" y="11323"/>
                  </a:lnTo>
                  <a:close/>
                  <a:moveTo>
                    <a:pt x="9905" y="1"/>
                  </a:moveTo>
                  <a:cubicBezTo>
                    <a:pt x="6002" y="1"/>
                    <a:pt x="2837" y="3166"/>
                    <a:pt x="2837" y="7080"/>
                  </a:cubicBezTo>
                  <a:lnTo>
                    <a:pt x="2837" y="8498"/>
                  </a:lnTo>
                  <a:lnTo>
                    <a:pt x="1419" y="8498"/>
                  </a:lnTo>
                  <a:cubicBezTo>
                    <a:pt x="625" y="8498"/>
                    <a:pt x="1" y="9122"/>
                    <a:pt x="1" y="9916"/>
                  </a:cubicBezTo>
                  <a:lnTo>
                    <a:pt x="1" y="26899"/>
                  </a:lnTo>
                  <a:cubicBezTo>
                    <a:pt x="1" y="27682"/>
                    <a:pt x="625" y="28317"/>
                    <a:pt x="1419" y="28317"/>
                  </a:cubicBezTo>
                  <a:lnTo>
                    <a:pt x="18402" y="28317"/>
                  </a:lnTo>
                  <a:cubicBezTo>
                    <a:pt x="19185" y="28317"/>
                    <a:pt x="19820" y="27682"/>
                    <a:pt x="19820" y="26899"/>
                  </a:cubicBezTo>
                  <a:lnTo>
                    <a:pt x="19820" y="9905"/>
                  </a:lnTo>
                  <a:cubicBezTo>
                    <a:pt x="19820" y="9111"/>
                    <a:pt x="19185" y="8487"/>
                    <a:pt x="18402" y="8487"/>
                  </a:cubicBezTo>
                  <a:lnTo>
                    <a:pt x="16984" y="8487"/>
                  </a:lnTo>
                  <a:lnTo>
                    <a:pt x="16984" y="7069"/>
                  </a:lnTo>
                  <a:cubicBezTo>
                    <a:pt x="16961" y="3166"/>
                    <a:pt x="13808" y="12"/>
                    <a:pt x="990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0" name="Google Shape;670;p21"/>
          <p:cNvSpPr txBox="1"/>
          <p:nvPr/>
        </p:nvSpPr>
        <p:spPr>
          <a:xfrm>
            <a:off x="2196595" y="2717638"/>
            <a:ext cx="1208304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TASADORES</a:t>
            </a:r>
            <a:endParaRPr sz="900"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Elimina cuello de botella de escasez de tasadores</a:t>
            </a:r>
            <a:endParaRPr sz="10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671" name="Google Shape;671;p21"/>
          <p:cNvGrpSpPr/>
          <p:nvPr/>
        </p:nvGrpSpPr>
        <p:grpSpPr>
          <a:xfrm>
            <a:off x="2573798" y="2185839"/>
            <a:ext cx="426192" cy="395197"/>
            <a:chOff x="-1953781" y="2930362"/>
            <a:chExt cx="426192" cy="395197"/>
          </a:xfrm>
        </p:grpSpPr>
        <p:sp>
          <p:nvSpPr>
            <p:cNvPr id="672" name="Google Shape;672;p21"/>
            <p:cNvSpPr/>
            <p:nvPr/>
          </p:nvSpPr>
          <p:spPr>
            <a:xfrm>
              <a:off x="-1806333" y="2930362"/>
              <a:ext cx="113469" cy="98097"/>
            </a:xfrm>
            <a:custGeom>
              <a:avLst/>
              <a:gdLst/>
              <a:ahLst/>
              <a:cxnLst/>
              <a:rect l="l" t="t" r="r" b="b"/>
              <a:pathLst>
                <a:path w="19355" h="16733" extrusionOk="0">
                  <a:moveTo>
                    <a:pt x="13428" y="2822"/>
                  </a:moveTo>
                  <a:cubicBezTo>
                    <a:pt x="13931" y="2822"/>
                    <a:pt x="14430" y="2969"/>
                    <a:pt x="14851" y="3255"/>
                  </a:cubicBezTo>
                  <a:cubicBezTo>
                    <a:pt x="15531" y="3720"/>
                    <a:pt x="16019" y="4503"/>
                    <a:pt x="16223" y="5456"/>
                  </a:cubicBezTo>
                  <a:cubicBezTo>
                    <a:pt x="16450" y="6522"/>
                    <a:pt x="16303" y="7623"/>
                    <a:pt x="15804" y="8587"/>
                  </a:cubicBezTo>
                  <a:cubicBezTo>
                    <a:pt x="15021" y="10164"/>
                    <a:pt x="11334" y="12649"/>
                    <a:pt x="9677" y="13658"/>
                  </a:cubicBezTo>
                  <a:cubicBezTo>
                    <a:pt x="8021" y="12649"/>
                    <a:pt x="4334" y="10164"/>
                    <a:pt x="3540" y="8587"/>
                  </a:cubicBezTo>
                  <a:cubicBezTo>
                    <a:pt x="3052" y="7623"/>
                    <a:pt x="2905" y="6522"/>
                    <a:pt x="3120" y="5456"/>
                  </a:cubicBezTo>
                  <a:cubicBezTo>
                    <a:pt x="3336" y="4503"/>
                    <a:pt x="3824" y="3720"/>
                    <a:pt x="4504" y="3255"/>
                  </a:cubicBezTo>
                  <a:cubicBezTo>
                    <a:pt x="4898" y="2982"/>
                    <a:pt x="5366" y="2835"/>
                    <a:pt x="5836" y="2835"/>
                  </a:cubicBezTo>
                  <a:cubicBezTo>
                    <a:pt x="5853" y="2835"/>
                    <a:pt x="5871" y="2835"/>
                    <a:pt x="5888" y="2835"/>
                  </a:cubicBezTo>
                  <a:cubicBezTo>
                    <a:pt x="6115" y="2835"/>
                    <a:pt x="6353" y="2858"/>
                    <a:pt x="6569" y="2903"/>
                  </a:cubicBezTo>
                  <a:cubicBezTo>
                    <a:pt x="7102" y="3028"/>
                    <a:pt x="7363" y="3301"/>
                    <a:pt x="8135" y="4117"/>
                  </a:cubicBezTo>
                  <a:cubicBezTo>
                    <a:pt x="8293" y="4288"/>
                    <a:pt x="8475" y="4469"/>
                    <a:pt x="8656" y="4662"/>
                  </a:cubicBezTo>
                  <a:cubicBezTo>
                    <a:pt x="8934" y="4951"/>
                    <a:pt x="9306" y="5096"/>
                    <a:pt x="9677" y="5096"/>
                  </a:cubicBezTo>
                  <a:cubicBezTo>
                    <a:pt x="10049" y="5096"/>
                    <a:pt x="10421" y="4951"/>
                    <a:pt x="10698" y="4662"/>
                  </a:cubicBezTo>
                  <a:cubicBezTo>
                    <a:pt x="10880" y="4469"/>
                    <a:pt x="11050" y="4288"/>
                    <a:pt x="11220" y="4117"/>
                  </a:cubicBezTo>
                  <a:cubicBezTo>
                    <a:pt x="11992" y="3301"/>
                    <a:pt x="12253" y="3028"/>
                    <a:pt x="12786" y="2903"/>
                  </a:cubicBezTo>
                  <a:cubicBezTo>
                    <a:pt x="12997" y="2849"/>
                    <a:pt x="13213" y="2822"/>
                    <a:pt x="13428" y="2822"/>
                  </a:cubicBezTo>
                  <a:close/>
                  <a:moveTo>
                    <a:pt x="5903" y="0"/>
                  </a:moveTo>
                  <a:cubicBezTo>
                    <a:pt x="4841" y="0"/>
                    <a:pt x="3794" y="321"/>
                    <a:pt x="2905" y="929"/>
                  </a:cubicBezTo>
                  <a:cubicBezTo>
                    <a:pt x="1623" y="1803"/>
                    <a:pt x="715" y="3210"/>
                    <a:pt x="352" y="4877"/>
                  </a:cubicBezTo>
                  <a:cubicBezTo>
                    <a:pt x="0" y="6568"/>
                    <a:pt x="227" y="8326"/>
                    <a:pt x="1010" y="9869"/>
                  </a:cubicBezTo>
                  <a:cubicBezTo>
                    <a:pt x="1645" y="11151"/>
                    <a:pt x="3154" y="12626"/>
                    <a:pt x="5605" y="14373"/>
                  </a:cubicBezTo>
                  <a:cubicBezTo>
                    <a:pt x="6524" y="15031"/>
                    <a:pt x="7374" y="15576"/>
                    <a:pt x="7930" y="15927"/>
                  </a:cubicBezTo>
                  <a:cubicBezTo>
                    <a:pt x="9076" y="16642"/>
                    <a:pt x="9246" y="16733"/>
                    <a:pt x="9677" y="16733"/>
                  </a:cubicBezTo>
                  <a:cubicBezTo>
                    <a:pt x="10109" y="16733"/>
                    <a:pt x="10279" y="16642"/>
                    <a:pt x="11425" y="15927"/>
                  </a:cubicBezTo>
                  <a:cubicBezTo>
                    <a:pt x="11980" y="15587"/>
                    <a:pt x="12831" y="15042"/>
                    <a:pt x="13750" y="14384"/>
                  </a:cubicBezTo>
                  <a:cubicBezTo>
                    <a:pt x="16201" y="12626"/>
                    <a:pt x="17710" y="11151"/>
                    <a:pt x="18345" y="9881"/>
                  </a:cubicBezTo>
                  <a:cubicBezTo>
                    <a:pt x="19128" y="8338"/>
                    <a:pt x="19355" y="6568"/>
                    <a:pt x="19003" y="4877"/>
                  </a:cubicBezTo>
                  <a:cubicBezTo>
                    <a:pt x="18640" y="3210"/>
                    <a:pt x="17732" y="1803"/>
                    <a:pt x="16450" y="929"/>
                  </a:cubicBezTo>
                  <a:cubicBezTo>
                    <a:pt x="15561" y="321"/>
                    <a:pt x="14514" y="0"/>
                    <a:pt x="13456" y="0"/>
                  </a:cubicBezTo>
                  <a:cubicBezTo>
                    <a:pt x="13015" y="0"/>
                    <a:pt x="12573" y="56"/>
                    <a:pt x="12139" y="169"/>
                  </a:cubicBezTo>
                  <a:cubicBezTo>
                    <a:pt x="11039" y="419"/>
                    <a:pt x="10347" y="975"/>
                    <a:pt x="9677" y="1644"/>
                  </a:cubicBezTo>
                  <a:cubicBezTo>
                    <a:pt x="9008" y="975"/>
                    <a:pt x="8316" y="430"/>
                    <a:pt x="7227" y="169"/>
                  </a:cubicBezTo>
                  <a:cubicBezTo>
                    <a:pt x="6790" y="56"/>
                    <a:pt x="6345" y="0"/>
                    <a:pt x="590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1"/>
            <p:cNvSpPr/>
            <p:nvPr/>
          </p:nvSpPr>
          <p:spPr>
            <a:xfrm>
              <a:off x="-1824360" y="3180545"/>
              <a:ext cx="16638" cy="16649"/>
            </a:xfrm>
            <a:custGeom>
              <a:avLst/>
              <a:gdLst/>
              <a:ahLst/>
              <a:cxnLst/>
              <a:rect l="l" t="t" r="r" b="b"/>
              <a:pathLst>
                <a:path w="2838" h="2840" extrusionOk="0">
                  <a:moveTo>
                    <a:pt x="1425" y="1"/>
                  </a:moveTo>
                  <a:cubicBezTo>
                    <a:pt x="1331" y="1"/>
                    <a:pt x="1238" y="9"/>
                    <a:pt x="1147" y="26"/>
                  </a:cubicBezTo>
                  <a:cubicBezTo>
                    <a:pt x="1056" y="37"/>
                    <a:pt x="965" y="71"/>
                    <a:pt x="886" y="106"/>
                  </a:cubicBezTo>
                  <a:cubicBezTo>
                    <a:pt x="704" y="174"/>
                    <a:pt x="557" y="276"/>
                    <a:pt x="421" y="412"/>
                  </a:cubicBezTo>
                  <a:cubicBezTo>
                    <a:pt x="160" y="673"/>
                    <a:pt x="1" y="1036"/>
                    <a:pt x="1" y="1410"/>
                  </a:cubicBezTo>
                  <a:cubicBezTo>
                    <a:pt x="1" y="1512"/>
                    <a:pt x="12" y="1603"/>
                    <a:pt x="35" y="1694"/>
                  </a:cubicBezTo>
                  <a:cubicBezTo>
                    <a:pt x="46" y="1785"/>
                    <a:pt x="80" y="1875"/>
                    <a:pt x="114" y="1966"/>
                  </a:cubicBezTo>
                  <a:cubicBezTo>
                    <a:pt x="148" y="2045"/>
                    <a:pt x="194" y="2125"/>
                    <a:pt x="239" y="2204"/>
                  </a:cubicBezTo>
                  <a:cubicBezTo>
                    <a:pt x="341" y="2363"/>
                    <a:pt x="477" y="2499"/>
                    <a:pt x="636" y="2601"/>
                  </a:cubicBezTo>
                  <a:cubicBezTo>
                    <a:pt x="716" y="2647"/>
                    <a:pt x="795" y="2692"/>
                    <a:pt x="886" y="2726"/>
                  </a:cubicBezTo>
                  <a:cubicBezTo>
                    <a:pt x="965" y="2760"/>
                    <a:pt x="1056" y="2794"/>
                    <a:pt x="1147" y="2806"/>
                  </a:cubicBezTo>
                  <a:cubicBezTo>
                    <a:pt x="1238" y="2828"/>
                    <a:pt x="1328" y="2840"/>
                    <a:pt x="1419" y="2840"/>
                  </a:cubicBezTo>
                  <a:cubicBezTo>
                    <a:pt x="1510" y="2840"/>
                    <a:pt x="1612" y="2828"/>
                    <a:pt x="1703" y="2806"/>
                  </a:cubicBezTo>
                  <a:cubicBezTo>
                    <a:pt x="1793" y="2794"/>
                    <a:pt x="1884" y="2760"/>
                    <a:pt x="1964" y="2726"/>
                  </a:cubicBezTo>
                  <a:cubicBezTo>
                    <a:pt x="2054" y="2692"/>
                    <a:pt x="2134" y="2647"/>
                    <a:pt x="2213" y="2601"/>
                  </a:cubicBezTo>
                  <a:cubicBezTo>
                    <a:pt x="2293" y="2545"/>
                    <a:pt x="2361" y="2488"/>
                    <a:pt x="2429" y="2420"/>
                  </a:cubicBezTo>
                  <a:cubicBezTo>
                    <a:pt x="2485" y="2352"/>
                    <a:pt x="2554" y="2284"/>
                    <a:pt x="2599" y="2204"/>
                  </a:cubicBezTo>
                  <a:cubicBezTo>
                    <a:pt x="2656" y="2125"/>
                    <a:pt x="2701" y="2045"/>
                    <a:pt x="2735" y="1966"/>
                  </a:cubicBezTo>
                  <a:cubicBezTo>
                    <a:pt x="2769" y="1875"/>
                    <a:pt x="2792" y="1785"/>
                    <a:pt x="2814" y="1694"/>
                  </a:cubicBezTo>
                  <a:cubicBezTo>
                    <a:pt x="2837" y="1603"/>
                    <a:pt x="2837" y="1512"/>
                    <a:pt x="2837" y="1410"/>
                  </a:cubicBezTo>
                  <a:cubicBezTo>
                    <a:pt x="2837" y="1036"/>
                    <a:pt x="2690" y="673"/>
                    <a:pt x="2429" y="412"/>
                  </a:cubicBezTo>
                  <a:cubicBezTo>
                    <a:pt x="2293" y="276"/>
                    <a:pt x="2134" y="174"/>
                    <a:pt x="1964" y="106"/>
                  </a:cubicBezTo>
                  <a:cubicBezTo>
                    <a:pt x="1884" y="71"/>
                    <a:pt x="1793" y="37"/>
                    <a:pt x="1703" y="26"/>
                  </a:cubicBezTo>
                  <a:cubicBezTo>
                    <a:pt x="1612" y="9"/>
                    <a:pt x="1518" y="1"/>
                    <a:pt x="142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1"/>
            <p:cNvSpPr/>
            <p:nvPr/>
          </p:nvSpPr>
          <p:spPr>
            <a:xfrm>
              <a:off x="-1953781" y="3020410"/>
              <a:ext cx="426192" cy="305149"/>
            </a:xfrm>
            <a:custGeom>
              <a:avLst/>
              <a:gdLst/>
              <a:ahLst/>
              <a:cxnLst/>
              <a:rect l="l" t="t" r="r" b="b"/>
              <a:pathLst>
                <a:path w="72698" h="52051" extrusionOk="0">
                  <a:moveTo>
                    <a:pt x="36099" y="5752"/>
                  </a:moveTo>
                  <a:lnTo>
                    <a:pt x="36099" y="8622"/>
                  </a:lnTo>
                  <a:lnTo>
                    <a:pt x="33558" y="10483"/>
                  </a:lnTo>
                  <a:lnTo>
                    <a:pt x="33558" y="5752"/>
                  </a:lnTo>
                  <a:close/>
                  <a:moveTo>
                    <a:pt x="48295" y="3177"/>
                  </a:moveTo>
                  <a:lnTo>
                    <a:pt x="65879" y="16087"/>
                  </a:lnTo>
                  <a:lnTo>
                    <a:pt x="65879" y="19649"/>
                  </a:lnTo>
                  <a:lnTo>
                    <a:pt x="49134" y="7352"/>
                  </a:lnTo>
                  <a:cubicBezTo>
                    <a:pt x="48885" y="7170"/>
                    <a:pt x="48590" y="7079"/>
                    <a:pt x="48295" y="7079"/>
                  </a:cubicBezTo>
                  <a:cubicBezTo>
                    <a:pt x="48000" y="7079"/>
                    <a:pt x="47705" y="7170"/>
                    <a:pt x="47455" y="7352"/>
                  </a:cubicBezTo>
                  <a:lnTo>
                    <a:pt x="30710" y="19615"/>
                  </a:lnTo>
                  <a:lnTo>
                    <a:pt x="30710" y="16087"/>
                  </a:lnTo>
                  <a:lnTo>
                    <a:pt x="48295" y="3177"/>
                  </a:lnTo>
                  <a:close/>
                  <a:moveTo>
                    <a:pt x="9507" y="16632"/>
                  </a:moveTo>
                  <a:lnTo>
                    <a:pt x="9507" y="36417"/>
                  </a:lnTo>
                  <a:lnTo>
                    <a:pt x="2836" y="36417"/>
                  </a:lnTo>
                  <a:lnTo>
                    <a:pt x="2836" y="16632"/>
                  </a:lnTo>
                  <a:close/>
                  <a:moveTo>
                    <a:pt x="52231" y="27216"/>
                  </a:moveTo>
                  <a:lnTo>
                    <a:pt x="52231" y="40036"/>
                  </a:lnTo>
                  <a:lnTo>
                    <a:pt x="52061" y="40036"/>
                  </a:lnTo>
                  <a:cubicBezTo>
                    <a:pt x="51766" y="38709"/>
                    <a:pt x="51029" y="37529"/>
                    <a:pt x="49985" y="36689"/>
                  </a:cubicBezTo>
                  <a:lnTo>
                    <a:pt x="44358" y="31777"/>
                  </a:lnTo>
                  <a:lnTo>
                    <a:pt x="44358" y="27216"/>
                  </a:lnTo>
                  <a:close/>
                  <a:moveTo>
                    <a:pt x="48295" y="10256"/>
                  </a:moveTo>
                  <a:lnTo>
                    <a:pt x="63247" y="21238"/>
                  </a:lnTo>
                  <a:lnTo>
                    <a:pt x="63247" y="40036"/>
                  </a:lnTo>
                  <a:lnTo>
                    <a:pt x="55068" y="40036"/>
                  </a:lnTo>
                  <a:lnTo>
                    <a:pt x="55068" y="25798"/>
                  </a:lnTo>
                  <a:cubicBezTo>
                    <a:pt x="55068" y="25004"/>
                    <a:pt x="54432" y="24380"/>
                    <a:pt x="53649" y="24380"/>
                  </a:cubicBezTo>
                  <a:lnTo>
                    <a:pt x="42940" y="24380"/>
                  </a:lnTo>
                  <a:cubicBezTo>
                    <a:pt x="42157" y="24380"/>
                    <a:pt x="41522" y="25004"/>
                    <a:pt x="41522" y="25798"/>
                  </a:cubicBezTo>
                  <a:lnTo>
                    <a:pt x="41522" y="29304"/>
                  </a:lnTo>
                  <a:lnTo>
                    <a:pt x="32741" y="21646"/>
                  </a:lnTo>
                  <a:lnTo>
                    <a:pt x="48295" y="10256"/>
                  </a:lnTo>
                  <a:close/>
                  <a:moveTo>
                    <a:pt x="17180" y="19198"/>
                  </a:moveTo>
                  <a:cubicBezTo>
                    <a:pt x="21367" y="19198"/>
                    <a:pt x="26334" y="19728"/>
                    <a:pt x="28759" y="21941"/>
                  </a:cubicBezTo>
                  <a:lnTo>
                    <a:pt x="28782" y="21964"/>
                  </a:lnTo>
                  <a:lnTo>
                    <a:pt x="48147" y="38845"/>
                  </a:lnTo>
                  <a:cubicBezTo>
                    <a:pt x="48159" y="38856"/>
                    <a:pt x="48170" y="38867"/>
                    <a:pt x="48193" y="38879"/>
                  </a:cubicBezTo>
                  <a:cubicBezTo>
                    <a:pt x="49543" y="39979"/>
                    <a:pt x="49758" y="41965"/>
                    <a:pt x="48669" y="43326"/>
                  </a:cubicBezTo>
                  <a:cubicBezTo>
                    <a:pt x="48041" y="44111"/>
                    <a:pt x="47119" y="44519"/>
                    <a:pt x="46187" y="44519"/>
                  </a:cubicBezTo>
                  <a:cubicBezTo>
                    <a:pt x="45503" y="44519"/>
                    <a:pt x="44814" y="44299"/>
                    <a:pt x="44233" y="43848"/>
                  </a:cubicBezTo>
                  <a:lnTo>
                    <a:pt x="28022" y="30699"/>
                  </a:lnTo>
                  <a:cubicBezTo>
                    <a:pt x="27764" y="30495"/>
                    <a:pt x="27453" y="30395"/>
                    <a:pt x="27144" y="30395"/>
                  </a:cubicBezTo>
                  <a:cubicBezTo>
                    <a:pt x="26734" y="30395"/>
                    <a:pt x="26326" y="30572"/>
                    <a:pt x="26048" y="30915"/>
                  </a:cubicBezTo>
                  <a:cubicBezTo>
                    <a:pt x="25560" y="31527"/>
                    <a:pt x="25639" y="32401"/>
                    <a:pt x="26240" y="32900"/>
                  </a:cubicBezTo>
                  <a:lnTo>
                    <a:pt x="42452" y="46049"/>
                  </a:lnTo>
                  <a:cubicBezTo>
                    <a:pt x="43507" y="46900"/>
                    <a:pt x="44835" y="47365"/>
                    <a:pt x="46196" y="47365"/>
                  </a:cubicBezTo>
                  <a:cubicBezTo>
                    <a:pt x="46423" y="47365"/>
                    <a:pt x="46650" y="47353"/>
                    <a:pt x="46865" y="47331"/>
                  </a:cubicBezTo>
                  <a:cubicBezTo>
                    <a:pt x="49350" y="47058"/>
                    <a:pt x="51403" y="45277"/>
                    <a:pt x="52027" y="42861"/>
                  </a:cubicBezTo>
                  <a:lnTo>
                    <a:pt x="66503" y="42861"/>
                  </a:lnTo>
                  <a:cubicBezTo>
                    <a:pt x="68262" y="42861"/>
                    <a:pt x="69725" y="44245"/>
                    <a:pt x="69770" y="45947"/>
                  </a:cubicBezTo>
                  <a:cubicBezTo>
                    <a:pt x="69793" y="46809"/>
                    <a:pt x="69475" y="47637"/>
                    <a:pt x="68874" y="48250"/>
                  </a:cubicBezTo>
                  <a:cubicBezTo>
                    <a:pt x="68273" y="48874"/>
                    <a:pt x="67456" y="49214"/>
                    <a:pt x="66605" y="49214"/>
                  </a:cubicBezTo>
                  <a:lnTo>
                    <a:pt x="29712" y="49203"/>
                  </a:lnTo>
                  <a:cubicBezTo>
                    <a:pt x="21793" y="49203"/>
                    <a:pt x="19150" y="43496"/>
                    <a:pt x="18322" y="38709"/>
                  </a:cubicBezTo>
                  <a:cubicBezTo>
                    <a:pt x="17981" y="36769"/>
                    <a:pt x="17641" y="35226"/>
                    <a:pt x="17312" y="34148"/>
                  </a:cubicBezTo>
                  <a:cubicBezTo>
                    <a:pt x="17029" y="33252"/>
                    <a:pt x="16518" y="31573"/>
                    <a:pt x="15077" y="31573"/>
                  </a:cubicBezTo>
                  <a:lnTo>
                    <a:pt x="12343" y="31573"/>
                  </a:lnTo>
                  <a:lnTo>
                    <a:pt x="12343" y="19411"/>
                  </a:lnTo>
                  <a:cubicBezTo>
                    <a:pt x="13605" y="19303"/>
                    <a:pt x="15315" y="19198"/>
                    <a:pt x="17180" y="19198"/>
                  </a:cubicBezTo>
                  <a:close/>
                  <a:moveTo>
                    <a:pt x="48295" y="0"/>
                  </a:moveTo>
                  <a:cubicBezTo>
                    <a:pt x="48000" y="0"/>
                    <a:pt x="47705" y="91"/>
                    <a:pt x="47455" y="272"/>
                  </a:cubicBezTo>
                  <a:lnTo>
                    <a:pt x="38935" y="6535"/>
                  </a:lnTo>
                  <a:lnTo>
                    <a:pt x="38935" y="4334"/>
                  </a:lnTo>
                  <a:cubicBezTo>
                    <a:pt x="38935" y="3551"/>
                    <a:pt x="38300" y="2916"/>
                    <a:pt x="37517" y="2916"/>
                  </a:cubicBezTo>
                  <a:lnTo>
                    <a:pt x="32140" y="2916"/>
                  </a:lnTo>
                  <a:cubicBezTo>
                    <a:pt x="31357" y="2916"/>
                    <a:pt x="30722" y="3551"/>
                    <a:pt x="30722" y="4334"/>
                  </a:cubicBezTo>
                  <a:lnTo>
                    <a:pt x="30722" y="12559"/>
                  </a:lnTo>
                  <a:lnTo>
                    <a:pt x="28453" y="14226"/>
                  </a:lnTo>
                  <a:cubicBezTo>
                    <a:pt x="28090" y="14499"/>
                    <a:pt x="27874" y="14919"/>
                    <a:pt x="27874" y="15372"/>
                  </a:cubicBezTo>
                  <a:lnTo>
                    <a:pt x="27874" y="18095"/>
                  </a:lnTo>
                  <a:cubicBezTo>
                    <a:pt x="24746" y="16734"/>
                    <a:pt x="20638" y="16357"/>
                    <a:pt x="17038" y="16357"/>
                  </a:cubicBezTo>
                  <a:cubicBezTo>
                    <a:pt x="15298" y="16357"/>
                    <a:pt x="13677" y="16445"/>
                    <a:pt x="12343" y="16552"/>
                  </a:cubicBezTo>
                  <a:lnTo>
                    <a:pt x="12343" y="15213"/>
                  </a:lnTo>
                  <a:cubicBezTo>
                    <a:pt x="12343" y="14431"/>
                    <a:pt x="11708" y="13795"/>
                    <a:pt x="10925" y="13795"/>
                  </a:cubicBezTo>
                  <a:lnTo>
                    <a:pt x="1418" y="13795"/>
                  </a:lnTo>
                  <a:cubicBezTo>
                    <a:pt x="635" y="13795"/>
                    <a:pt x="0" y="14431"/>
                    <a:pt x="0" y="15213"/>
                  </a:cubicBezTo>
                  <a:lnTo>
                    <a:pt x="0" y="37835"/>
                  </a:lnTo>
                  <a:cubicBezTo>
                    <a:pt x="0" y="38618"/>
                    <a:pt x="635" y="39253"/>
                    <a:pt x="1418" y="39253"/>
                  </a:cubicBezTo>
                  <a:lnTo>
                    <a:pt x="10925" y="39253"/>
                  </a:lnTo>
                  <a:cubicBezTo>
                    <a:pt x="11708" y="39253"/>
                    <a:pt x="12343" y="38618"/>
                    <a:pt x="12343" y="37835"/>
                  </a:cubicBezTo>
                  <a:lnTo>
                    <a:pt x="12343" y="34409"/>
                  </a:lnTo>
                  <a:lnTo>
                    <a:pt x="14408" y="34409"/>
                  </a:lnTo>
                  <a:cubicBezTo>
                    <a:pt x="14612" y="34965"/>
                    <a:pt x="15020" y="36269"/>
                    <a:pt x="15520" y="39185"/>
                  </a:cubicBezTo>
                  <a:cubicBezTo>
                    <a:pt x="16938" y="47478"/>
                    <a:pt x="21986" y="52039"/>
                    <a:pt x="29712" y="52039"/>
                  </a:cubicBezTo>
                  <a:lnTo>
                    <a:pt x="66594" y="52050"/>
                  </a:lnTo>
                  <a:cubicBezTo>
                    <a:pt x="69986" y="52050"/>
                    <a:pt x="72697" y="49259"/>
                    <a:pt x="72607" y="45879"/>
                  </a:cubicBezTo>
                  <a:cubicBezTo>
                    <a:pt x="72516" y="42657"/>
                    <a:pt x="69782" y="40036"/>
                    <a:pt x="66514" y="40036"/>
                  </a:cubicBezTo>
                  <a:lnTo>
                    <a:pt x="66083" y="40036"/>
                  </a:lnTo>
                  <a:lnTo>
                    <a:pt x="66083" y="23325"/>
                  </a:lnTo>
                  <a:lnTo>
                    <a:pt x="66458" y="23597"/>
                  </a:lnTo>
                  <a:cubicBezTo>
                    <a:pt x="66717" y="23787"/>
                    <a:pt x="67006" y="23873"/>
                    <a:pt x="67288" y="23873"/>
                  </a:cubicBezTo>
                  <a:cubicBezTo>
                    <a:pt x="68020" y="23873"/>
                    <a:pt x="68707" y="23298"/>
                    <a:pt x="68715" y="22463"/>
                  </a:cubicBezTo>
                  <a:lnTo>
                    <a:pt x="68715" y="15372"/>
                  </a:lnTo>
                  <a:cubicBezTo>
                    <a:pt x="68715" y="14919"/>
                    <a:pt x="68500" y="14499"/>
                    <a:pt x="68137" y="14226"/>
                  </a:cubicBezTo>
                  <a:lnTo>
                    <a:pt x="49134" y="272"/>
                  </a:lnTo>
                  <a:cubicBezTo>
                    <a:pt x="48885" y="91"/>
                    <a:pt x="48590" y="0"/>
                    <a:pt x="4829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5" name="Google Shape;675;p21"/>
          <p:cNvSpPr txBox="1"/>
          <p:nvPr/>
        </p:nvSpPr>
        <p:spPr>
          <a:xfrm>
            <a:off x="3642376" y="2717638"/>
            <a:ext cx="1460392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COSTO</a:t>
            </a:r>
            <a:endParaRPr sz="900"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El costo por evaluación baja de 400 USD a prácticamente cero después del desarrollo inicial</a:t>
            </a:r>
            <a:endParaRPr sz="10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676" name="Google Shape;676;p21"/>
          <p:cNvGrpSpPr/>
          <p:nvPr/>
        </p:nvGrpSpPr>
        <p:grpSpPr>
          <a:xfrm>
            <a:off x="4253915" y="2155436"/>
            <a:ext cx="379104" cy="425600"/>
            <a:chOff x="-1073808" y="2303972"/>
            <a:chExt cx="379104" cy="425600"/>
          </a:xfrm>
        </p:grpSpPr>
        <p:sp>
          <p:nvSpPr>
            <p:cNvPr id="677" name="Google Shape;677;p21"/>
            <p:cNvSpPr/>
            <p:nvPr/>
          </p:nvSpPr>
          <p:spPr>
            <a:xfrm>
              <a:off x="-1073808" y="2303972"/>
              <a:ext cx="139744" cy="232788"/>
            </a:xfrm>
            <a:custGeom>
              <a:avLst/>
              <a:gdLst/>
              <a:ahLst/>
              <a:cxnLst/>
              <a:rect l="l" t="t" r="r" b="b"/>
              <a:pathLst>
                <a:path w="23837" h="39708" extrusionOk="0">
                  <a:moveTo>
                    <a:pt x="19298" y="2270"/>
                  </a:moveTo>
                  <a:cubicBezTo>
                    <a:pt x="20557" y="2270"/>
                    <a:pt x="21567" y="3279"/>
                    <a:pt x="21567" y="4539"/>
                  </a:cubicBezTo>
                  <a:lnTo>
                    <a:pt x="21567" y="29497"/>
                  </a:lnTo>
                  <a:lnTo>
                    <a:pt x="2270" y="29497"/>
                  </a:lnTo>
                  <a:lnTo>
                    <a:pt x="2270" y="4539"/>
                  </a:lnTo>
                  <a:cubicBezTo>
                    <a:pt x="2270" y="3279"/>
                    <a:pt x="3291" y="2270"/>
                    <a:pt x="4539" y="2270"/>
                  </a:cubicBezTo>
                  <a:close/>
                  <a:moveTo>
                    <a:pt x="12503" y="31766"/>
                  </a:moveTo>
                  <a:cubicBezTo>
                    <a:pt x="11867" y="31766"/>
                    <a:pt x="11368" y="32288"/>
                    <a:pt x="11380" y="32912"/>
                  </a:cubicBezTo>
                  <a:cubicBezTo>
                    <a:pt x="11380" y="33536"/>
                    <a:pt x="11890" y="34035"/>
                    <a:pt x="12525" y="34035"/>
                  </a:cubicBezTo>
                  <a:lnTo>
                    <a:pt x="4539" y="34035"/>
                  </a:lnTo>
                  <a:cubicBezTo>
                    <a:pt x="3291" y="34035"/>
                    <a:pt x="2270" y="33014"/>
                    <a:pt x="2270" y="31766"/>
                  </a:cubicBezTo>
                  <a:close/>
                  <a:moveTo>
                    <a:pt x="21567" y="31766"/>
                  </a:moveTo>
                  <a:cubicBezTo>
                    <a:pt x="21567" y="33014"/>
                    <a:pt x="20557" y="34035"/>
                    <a:pt x="19298" y="34035"/>
                  </a:cubicBezTo>
                  <a:lnTo>
                    <a:pt x="12525" y="34035"/>
                  </a:lnTo>
                  <a:cubicBezTo>
                    <a:pt x="13149" y="34035"/>
                    <a:pt x="13660" y="33536"/>
                    <a:pt x="13660" y="32901"/>
                  </a:cubicBezTo>
                  <a:cubicBezTo>
                    <a:pt x="13660" y="32277"/>
                    <a:pt x="13161" y="31766"/>
                    <a:pt x="12537" y="31766"/>
                  </a:cubicBezTo>
                  <a:close/>
                  <a:moveTo>
                    <a:pt x="2349" y="35714"/>
                  </a:moveTo>
                  <a:cubicBezTo>
                    <a:pt x="3007" y="36100"/>
                    <a:pt x="3767" y="36304"/>
                    <a:pt x="4539" y="36304"/>
                  </a:cubicBezTo>
                  <a:lnTo>
                    <a:pt x="19298" y="36304"/>
                  </a:lnTo>
                  <a:cubicBezTo>
                    <a:pt x="20070" y="36304"/>
                    <a:pt x="20830" y="36100"/>
                    <a:pt x="21499" y="35714"/>
                  </a:cubicBezTo>
                  <a:lnTo>
                    <a:pt x="21499" y="35714"/>
                  </a:lnTo>
                  <a:cubicBezTo>
                    <a:pt x="21250" y="36724"/>
                    <a:pt x="20342" y="37439"/>
                    <a:pt x="19298" y="37439"/>
                  </a:cubicBezTo>
                  <a:lnTo>
                    <a:pt x="4539" y="37439"/>
                  </a:lnTo>
                  <a:cubicBezTo>
                    <a:pt x="3495" y="37439"/>
                    <a:pt x="2599" y="36724"/>
                    <a:pt x="2349" y="35714"/>
                  </a:cubicBezTo>
                  <a:close/>
                  <a:moveTo>
                    <a:pt x="4539" y="1"/>
                  </a:moveTo>
                  <a:cubicBezTo>
                    <a:pt x="2031" y="1"/>
                    <a:pt x="1" y="2032"/>
                    <a:pt x="1" y="4539"/>
                  </a:cubicBezTo>
                  <a:lnTo>
                    <a:pt x="1" y="35170"/>
                  </a:lnTo>
                  <a:cubicBezTo>
                    <a:pt x="1" y="37677"/>
                    <a:pt x="2031" y="39708"/>
                    <a:pt x="4539" y="39708"/>
                  </a:cubicBezTo>
                  <a:lnTo>
                    <a:pt x="19298" y="39708"/>
                  </a:lnTo>
                  <a:cubicBezTo>
                    <a:pt x="21805" y="39708"/>
                    <a:pt x="23836" y="37677"/>
                    <a:pt x="23836" y="35170"/>
                  </a:cubicBezTo>
                  <a:lnTo>
                    <a:pt x="23836" y="4539"/>
                  </a:lnTo>
                  <a:cubicBezTo>
                    <a:pt x="23836" y="2032"/>
                    <a:pt x="21805" y="1"/>
                    <a:pt x="1929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1"/>
            <p:cNvSpPr/>
            <p:nvPr/>
          </p:nvSpPr>
          <p:spPr>
            <a:xfrm>
              <a:off x="-894234" y="2536754"/>
              <a:ext cx="199530" cy="192818"/>
            </a:xfrm>
            <a:custGeom>
              <a:avLst/>
              <a:gdLst/>
              <a:ahLst/>
              <a:cxnLst/>
              <a:rect l="l" t="t" r="r" b="b"/>
              <a:pathLst>
                <a:path w="34035" h="32890" extrusionOk="0">
                  <a:moveTo>
                    <a:pt x="17029" y="2462"/>
                  </a:moveTo>
                  <a:lnTo>
                    <a:pt x="31777" y="11947"/>
                  </a:lnTo>
                  <a:lnTo>
                    <a:pt x="31777" y="13785"/>
                  </a:lnTo>
                  <a:lnTo>
                    <a:pt x="17664" y="4720"/>
                  </a:lnTo>
                  <a:lnTo>
                    <a:pt x="17630" y="4697"/>
                  </a:lnTo>
                  <a:cubicBezTo>
                    <a:pt x="17585" y="4675"/>
                    <a:pt x="17540" y="4663"/>
                    <a:pt x="17494" y="4641"/>
                  </a:cubicBezTo>
                  <a:cubicBezTo>
                    <a:pt x="17404" y="4595"/>
                    <a:pt x="17324" y="4573"/>
                    <a:pt x="17233" y="4550"/>
                  </a:cubicBezTo>
                  <a:cubicBezTo>
                    <a:pt x="17160" y="4544"/>
                    <a:pt x="17089" y="4541"/>
                    <a:pt x="17018" y="4541"/>
                  </a:cubicBezTo>
                  <a:cubicBezTo>
                    <a:pt x="16947" y="4541"/>
                    <a:pt x="16876" y="4544"/>
                    <a:pt x="16802" y="4550"/>
                  </a:cubicBezTo>
                  <a:cubicBezTo>
                    <a:pt x="16723" y="4573"/>
                    <a:pt x="16632" y="4595"/>
                    <a:pt x="16553" y="4641"/>
                  </a:cubicBezTo>
                  <a:cubicBezTo>
                    <a:pt x="16507" y="4663"/>
                    <a:pt x="16451" y="4675"/>
                    <a:pt x="16405" y="4697"/>
                  </a:cubicBezTo>
                  <a:lnTo>
                    <a:pt x="2281" y="13785"/>
                  </a:lnTo>
                  <a:lnTo>
                    <a:pt x="2281" y="11947"/>
                  </a:lnTo>
                  <a:lnTo>
                    <a:pt x="17029" y="2462"/>
                  </a:lnTo>
                  <a:close/>
                  <a:moveTo>
                    <a:pt x="17018" y="7000"/>
                  </a:moveTo>
                  <a:lnTo>
                    <a:pt x="29497" y="15033"/>
                  </a:lnTo>
                  <a:lnTo>
                    <a:pt x="29497" y="30620"/>
                  </a:lnTo>
                  <a:lnTo>
                    <a:pt x="21556" y="30620"/>
                  </a:lnTo>
                  <a:lnTo>
                    <a:pt x="21556" y="21544"/>
                  </a:lnTo>
                  <a:cubicBezTo>
                    <a:pt x="21556" y="20920"/>
                    <a:pt x="21045" y="20410"/>
                    <a:pt x="20421" y="20410"/>
                  </a:cubicBezTo>
                  <a:lnTo>
                    <a:pt x="13614" y="20410"/>
                  </a:lnTo>
                  <a:cubicBezTo>
                    <a:pt x="12990" y="20410"/>
                    <a:pt x="12480" y="20920"/>
                    <a:pt x="12480" y="21544"/>
                  </a:cubicBezTo>
                  <a:lnTo>
                    <a:pt x="12480" y="30632"/>
                  </a:lnTo>
                  <a:lnTo>
                    <a:pt x="4539" y="30632"/>
                  </a:lnTo>
                  <a:lnTo>
                    <a:pt x="4539" y="15033"/>
                  </a:lnTo>
                  <a:lnTo>
                    <a:pt x="17018" y="7000"/>
                  </a:lnTo>
                  <a:close/>
                  <a:moveTo>
                    <a:pt x="19287" y="22679"/>
                  </a:moveTo>
                  <a:lnTo>
                    <a:pt x="19287" y="30632"/>
                  </a:lnTo>
                  <a:lnTo>
                    <a:pt x="14749" y="30620"/>
                  </a:lnTo>
                  <a:lnTo>
                    <a:pt x="14749" y="22679"/>
                  </a:lnTo>
                  <a:close/>
                  <a:moveTo>
                    <a:pt x="16802" y="1"/>
                  </a:moveTo>
                  <a:cubicBezTo>
                    <a:pt x="16712" y="23"/>
                    <a:pt x="16621" y="69"/>
                    <a:pt x="16530" y="114"/>
                  </a:cubicBezTo>
                  <a:cubicBezTo>
                    <a:pt x="16485" y="125"/>
                    <a:pt x="16451" y="137"/>
                    <a:pt x="16405" y="159"/>
                  </a:cubicBezTo>
                  <a:lnTo>
                    <a:pt x="16383" y="182"/>
                  </a:lnTo>
                  <a:lnTo>
                    <a:pt x="523" y="10370"/>
                  </a:lnTo>
                  <a:cubicBezTo>
                    <a:pt x="500" y="10404"/>
                    <a:pt x="466" y="10427"/>
                    <a:pt x="443" y="10449"/>
                  </a:cubicBezTo>
                  <a:cubicBezTo>
                    <a:pt x="375" y="10506"/>
                    <a:pt x="330" y="10551"/>
                    <a:pt x="273" y="10619"/>
                  </a:cubicBezTo>
                  <a:cubicBezTo>
                    <a:pt x="228" y="10676"/>
                    <a:pt x="194" y="10733"/>
                    <a:pt x="159" y="10790"/>
                  </a:cubicBezTo>
                  <a:cubicBezTo>
                    <a:pt x="125" y="10858"/>
                    <a:pt x="91" y="10926"/>
                    <a:pt x="69" y="10994"/>
                  </a:cubicBezTo>
                  <a:cubicBezTo>
                    <a:pt x="46" y="11062"/>
                    <a:pt x="35" y="11141"/>
                    <a:pt x="23" y="11209"/>
                  </a:cubicBezTo>
                  <a:cubicBezTo>
                    <a:pt x="12" y="11255"/>
                    <a:pt x="12" y="11289"/>
                    <a:pt x="1" y="11334"/>
                  </a:cubicBezTo>
                  <a:lnTo>
                    <a:pt x="1" y="15872"/>
                  </a:lnTo>
                  <a:cubicBezTo>
                    <a:pt x="1" y="15895"/>
                    <a:pt x="23" y="15929"/>
                    <a:pt x="23" y="15963"/>
                  </a:cubicBezTo>
                  <a:cubicBezTo>
                    <a:pt x="35" y="16031"/>
                    <a:pt x="46" y="16110"/>
                    <a:pt x="69" y="16178"/>
                  </a:cubicBezTo>
                  <a:cubicBezTo>
                    <a:pt x="91" y="16258"/>
                    <a:pt x="114" y="16326"/>
                    <a:pt x="148" y="16394"/>
                  </a:cubicBezTo>
                  <a:cubicBezTo>
                    <a:pt x="159" y="16417"/>
                    <a:pt x="171" y="16451"/>
                    <a:pt x="182" y="16485"/>
                  </a:cubicBezTo>
                  <a:cubicBezTo>
                    <a:pt x="216" y="16530"/>
                    <a:pt x="262" y="16575"/>
                    <a:pt x="307" y="16621"/>
                  </a:cubicBezTo>
                  <a:cubicBezTo>
                    <a:pt x="318" y="16643"/>
                    <a:pt x="330" y="16655"/>
                    <a:pt x="352" y="16678"/>
                  </a:cubicBezTo>
                  <a:cubicBezTo>
                    <a:pt x="443" y="16757"/>
                    <a:pt x="545" y="16836"/>
                    <a:pt x="659" y="16882"/>
                  </a:cubicBezTo>
                  <a:cubicBezTo>
                    <a:pt x="693" y="16904"/>
                    <a:pt x="715" y="16904"/>
                    <a:pt x="738" y="16916"/>
                  </a:cubicBezTo>
                  <a:cubicBezTo>
                    <a:pt x="863" y="16961"/>
                    <a:pt x="999" y="16995"/>
                    <a:pt x="1135" y="16995"/>
                  </a:cubicBezTo>
                  <a:cubicBezTo>
                    <a:pt x="1271" y="16995"/>
                    <a:pt x="1396" y="16961"/>
                    <a:pt x="1521" y="16916"/>
                  </a:cubicBezTo>
                  <a:cubicBezTo>
                    <a:pt x="1566" y="16904"/>
                    <a:pt x="1600" y="16882"/>
                    <a:pt x="1634" y="16870"/>
                  </a:cubicBezTo>
                  <a:cubicBezTo>
                    <a:pt x="1668" y="16848"/>
                    <a:pt x="1714" y="16836"/>
                    <a:pt x="1748" y="16814"/>
                  </a:cubicBezTo>
                  <a:lnTo>
                    <a:pt x="2270" y="16485"/>
                  </a:lnTo>
                  <a:lnTo>
                    <a:pt x="2270" y="30620"/>
                  </a:lnTo>
                  <a:lnTo>
                    <a:pt x="1135" y="30620"/>
                  </a:lnTo>
                  <a:cubicBezTo>
                    <a:pt x="511" y="30620"/>
                    <a:pt x="1" y="31131"/>
                    <a:pt x="1" y="31755"/>
                  </a:cubicBezTo>
                  <a:cubicBezTo>
                    <a:pt x="1" y="32379"/>
                    <a:pt x="511" y="32889"/>
                    <a:pt x="1135" y="32889"/>
                  </a:cubicBezTo>
                  <a:lnTo>
                    <a:pt x="32901" y="32889"/>
                  </a:lnTo>
                  <a:cubicBezTo>
                    <a:pt x="33524" y="32889"/>
                    <a:pt x="34035" y="32379"/>
                    <a:pt x="34035" y="31755"/>
                  </a:cubicBezTo>
                  <a:cubicBezTo>
                    <a:pt x="34035" y="31131"/>
                    <a:pt x="33524" y="30620"/>
                    <a:pt x="32901" y="30620"/>
                  </a:cubicBezTo>
                  <a:lnTo>
                    <a:pt x="31766" y="30620"/>
                  </a:lnTo>
                  <a:lnTo>
                    <a:pt x="31766" y="16485"/>
                  </a:lnTo>
                  <a:lnTo>
                    <a:pt x="32288" y="16814"/>
                  </a:lnTo>
                  <a:cubicBezTo>
                    <a:pt x="32322" y="16836"/>
                    <a:pt x="32356" y="16848"/>
                    <a:pt x="32401" y="16870"/>
                  </a:cubicBezTo>
                  <a:cubicBezTo>
                    <a:pt x="32435" y="16882"/>
                    <a:pt x="32469" y="16904"/>
                    <a:pt x="32503" y="16916"/>
                  </a:cubicBezTo>
                  <a:cubicBezTo>
                    <a:pt x="32628" y="16961"/>
                    <a:pt x="32764" y="16995"/>
                    <a:pt x="32901" y="16995"/>
                  </a:cubicBezTo>
                  <a:cubicBezTo>
                    <a:pt x="33037" y="16995"/>
                    <a:pt x="33161" y="16961"/>
                    <a:pt x="33286" y="16916"/>
                  </a:cubicBezTo>
                  <a:cubicBezTo>
                    <a:pt x="33320" y="16904"/>
                    <a:pt x="33343" y="16904"/>
                    <a:pt x="33366" y="16893"/>
                  </a:cubicBezTo>
                  <a:cubicBezTo>
                    <a:pt x="33490" y="16836"/>
                    <a:pt x="33593" y="16768"/>
                    <a:pt x="33683" y="16678"/>
                  </a:cubicBezTo>
                  <a:cubicBezTo>
                    <a:pt x="33695" y="16655"/>
                    <a:pt x="33706" y="16643"/>
                    <a:pt x="33729" y="16621"/>
                  </a:cubicBezTo>
                  <a:cubicBezTo>
                    <a:pt x="33774" y="16575"/>
                    <a:pt x="33808" y="16530"/>
                    <a:pt x="33853" y="16485"/>
                  </a:cubicBezTo>
                  <a:cubicBezTo>
                    <a:pt x="33865" y="16451"/>
                    <a:pt x="33876" y="16428"/>
                    <a:pt x="33888" y="16394"/>
                  </a:cubicBezTo>
                  <a:cubicBezTo>
                    <a:pt x="33922" y="16326"/>
                    <a:pt x="33944" y="16258"/>
                    <a:pt x="33967" y="16178"/>
                  </a:cubicBezTo>
                  <a:cubicBezTo>
                    <a:pt x="33990" y="16110"/>
                    <a:pt x="34001" y="16031"/>
                    <a:pt x="34012" y="15963"/>
                  </a:cubicBezTo>
                  <a:cubicBezTo>
                    <a:pt x="34024" y="15929"/>
                    <a:pt x="34024" y="15895"/>
                    <a:pt x="34035" y="15872"/>
                  </a:cubicBezTo>
                  <a:lnTo>
                    <a:pt x="34035" y="11323"/>
                  </a:lnTo>
                  <a:cubicBezTo>
                    <a:pt x="34024" y="11289"/>
                    <a:pt x="34012" y="11243"/>
                    <a:pt x="34001" y="11209"/>
                  </a:cubicBezTo>
                  <a:cubicBezTo>
                    <a:pt x="33990" y="11062"/>
                    <a:pt x="33944" y="10914"/>
                    <a:pt x="33876" y="10778"/>
                  </a:cubicBezTo>
                  <a:cubicBezTo>
                    <a:pt x="33842" y="10721"/>
                    <a:pt x="33808" y="10665"/>
                    <a:pt x="33763" y="10608"/>
                  </a:cubicBezTo>
                  <a:cubicBezTo>
                    <a:pt x="33706" y="10551"/>
                    <a:pt x="33649" y="10495"/>
                    <a:pt x="33593" y="10449"/>
                  </a:cubicBezTo>
                  <a:cubicBezTo>
                    <a:pt x="33559" y="10415"/>
                    <a:pt x="33547" y="10381"/>
                    <a:pt x="33513" y="10370"/>
                  </a:cubicBezTo>
                  <a:lnTo>
                    <a:pt x="17664" y="182"/>
                  </a:lnTo>
                  <a:lnTo>
                    <a:pt x="17630" y="159"/>
                  </a:lnTo>
                  <a:cubicBezTo>
                    <a:pt x="17585" y="137"/>
                    <a:pt x="17540" y="114"/>
                    <a:pt x="17494" y="103"/>
                  </a:cubicBezTo>
                  <a:cubicBezTo>
                    <a:pt x="17404" y="57"/>
                    <a:pt x="17324" y="23"/>
                    <a:pt x="1723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-1007233" y="2550056"/>
              <a:ext cx="113205" cy="146275"/>
            </a:xfrm>
            <a:custGeom>
              <a:avLst/>
              <a:gdLst/>
              <a:ahLst/>
              <a:cxnLst/>
              <a:rect l="l" t="t" r="r" b="b"/>
              <a:pathLst>
                <a:path w="19310" h="24951" extrusionOk="0">
                  <a:moveTo>
                    <a:pt x="1135" y="1"/>
                  </a:moveTo>
                  <a:cubicBezTo>
                    <a:pt x="500" y="1"/>
                    <a:pt x="1" y="500"/>
                    <a:pt x="1" y="1135"/>
                  </a:cubicBezTo>
                  <a:lnTo>
                    <a:pt x="1" y="20421"/>
                  </a:lnTo>
                  <a:cubicBezTo>
                    <a:pt x="1" y="21045"/>
                    <a:pt x="500" y="21556"/>
                    <a:pt x="1135" y="21556"/>
                  </a:cubicBezTo>
                  <a:lnTo>
                    <a:pt x="15407" y="21556"/>
                  </a:lnTo>
                  <a:lnTo>
                    <a:pt x="13932" y="23019"/>
                  </a:lnTo>
                  <a:cubicBezTo>
                    <a:pt x="13490" y="23462"/>
                    <a:pt x="13490" y="24176"/>
                    <a:pt x="13932" y="24619"/>
                  </a:cubicBezTo>
                  <a:cubicBezTo>
                    <a:pt x="14153" y="24840"/>
                    <a:pt x="14446" y="24951"/>
                    <a:pt x="14738" y="24951"/>
                  </a:cubicBezTo>
                  <a:cubicBezTo>
                    <a:pt x="15030" y="24951"/>
                    <a:pt x="15322" y="24840"/>
                    <a:pt x="15543" y="24619"/>
                  </a:cubicBezTo>
                  <a:lnTo>
                    <a:pt x="18947" y="21215"/>
                  </a:lnTo>
                  <a:cubicBezTo>
                    <a:pt x="19049" y="21113"/>
                    <a:pt x="19140" y="20988"/>
                    <a:pt x="19196" y="20852"/>
                  </a:cubicBezTo>
                  <a:cubicBezTo>
                    <a:pt x="19310" y="20569"/>
                    <a:pt x="19310" y="20262"/>
                    <a:pt x="19196" y="19979"/>
                  </a:cubicBezTo>
                  <a:cubicBezTo>
                    <a:pt x="19140" y="19843"/>
                    <a:pt x="19049" y="19718"/>
                    <a:pt x="18947" y="19616"/>
                  </a:cubicBezTo>
                  <a:lnTo>
                    <a:pt x="15543" y="16212"/>
                  </a:lnTo>
                  <a:cubicBezTo>
                    <a:pt x="15322" y="15991"/>
                    <a:pt x="15030" y="15880"/>
                    <a:pt x="14738" y="15880"/>
                  </a:cubicBezTo>
                  <a:cubicBezTo>
                    <a:pt x="14446" y="15880"/>
                    <a:pt x="14153" y="15991"/>
                    <a:pt x="13932" y="16212"/>
                  </a:cubicBezTo>
                  <a:cubicBezTo>
                    <a:pt x="13490" y="16655"/>
                    <a:pt x="13490" y="17370"/>
                    <a:pt x="13932" y="17812"/>
                  </a:cubicBezTo>
                  <a:lnTo>
                    <a:pt x="15407" y="19287"/>
                  </a:lnTo>
                  <a:lnTo>
                    <a:pt x="2270" y="19287"/>
                  </a:lnTo>
                  <a:lnTo>
                    <a:pt x="2270" y="1135"/>
                  </a:lnTo>
                  <a:cubicBezTo>
                    <a:pt x="2270" y="500"/>
                    <a:pt x="1759" y="1"/>
                    <a:pt x="113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-921371" y="2383766"/>
              <a:ext cx="133559" cy="139627"/>
            </a:xfrm>
            <a:custGeom>
              <a:avLst/>
              <a:gdLst/>
              <a:ahLst/>
              <a:cxnLst/>
              <a:rect l="l" t="t" r="r" b="b"/>
              <a:pathLst>
                <a:path w="22782" h="23817" extrusionOk="0">
                  <a:moveTo>
                    <a:pt x="4624" y="1"/>
                  </a:moveTo>
                  <a:cubicBezTo>
                    <a:pt x="4335" y="1"/>
                    <a:pt x="4045" y="111"/>
                    <a:pt x="3824" y="333"/>
                  </a:cubicBezTo>
                  <a:lnTo>
                    <a:pt x="421" y="3736"/>
                  </a:lnTo>
                  <a:cubicBezTo>
                    <a:pt x="92" y="4054"/>
                    <a:pt x="1" y="4541"/>
                    <a:pt x="171" y="4973"/>
                  </a:cubicBezTo>
                  <a:cubicBezTo>
                    <a:pt x="228" y="5109"/>
                    <a:pt x="319" y="5234"/>
                    <a:pt x="421" y="5336"/>
                  </a:cubicBezTo>
                  <a:lnTo>
                    <a:pt x="3824" y="8739"/>
                  </a:lnTo>
                  <a:cubicBezTo>
                    <a:pt x="4045" y="8960"/>
                    <a:pt x="4335" y="9071"/>
                    <a:pt x="4624" y="9071"/>
                  </a:cubicBezTo>
                  <a:cubicBezTo>
                    <a:pt x="4913" y="9071"/>
                    <a:pt x="5203" y="8960"/>
                    <a:pt x="5424" y="8739"/>
                  </a:cubicBezTo>
                  <a:cubicBezTo>
                    <a:pt x="5878" y="8297"/>
                    <a:pt x="5878" y="7582"/>
                    <a:pt x="5424" y="7139"/>
                  </a:cubicBezTo>
                  <a:lnTo>
                    <a:pt x="3960" y="5676"/>
                  </a:lnTo>
                  <a:lnTo>
                    <a:pt x="20512" y="5676"/>
                  </a:lnTo>
                  <a:lnTo>
                    <a:pt x="20512" y="22693"/>
                  </a:lnTo>
                  <a:cubicBezTo>
                    <a:pt x="20512" y="23317"/>
                    <a:pt x="21012" y="23816"/>
                    <a:pt x="21647" y="23816"/>
                  </a:cubicBezTo>
                  <a:cubicBezTo>
                    <a:pt x="22271" y="23816"/>
                    <a:pt x="22781" y="23317"/>
                    <a:pt x="22781" y="22693"/>
                  </a:cubicBezTo>
                  <a:lnTo>
                    <a:pt x="22781" y="4541"/>
                  </a:lnTo>
                  <a:cubicBezTo>
                    <a:pt x="22781" y="3906"/>
                    <a:pt x="22271" y="3407"/>
                    <a:pt x="21647" y="3407"/>
                  </a:cubicBezTo>
                  <a:lnTo>
                    <a:pt x="3960" y="3407"/>
                  </a:lnTo>
                  <a:lnTo>
                    <a:pt x="5424" y="1932"/>
                  </a:lnTo>
                  <a:cubicBezTo>
                    <a:pt x="5866" y="1490"/>
                    <a:pt x="5866" y="775"/>
                    <a:pt x="5424" y="333"/>
                  </a:cubicBezTo>
                  <a:cubicBezTo>
                    <a:pt x="5203" y="111"/>
                    <a:pt x="4913" y="1"/>
                    <a:pt x="462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1" name="Google Shape;681;p21"/>
          <p:cNvSpPr txBox="1"/>
          <p:nvPr/>
        </p:nvSpPr>
        <p:spPr>
          <a:xfrm>
            <a:off x="572607" y="2717638"/>
            <a:ext cx="1364065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dirty="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TIEMPO DE ESPERA</a:t>
            </a:r>
            <a:endParaRPr sz="900"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Reducción del tiempo de 6 a 20 días a menos de 5 segundos</a:t>
            </a:r>
            <a:endParaRPr sz="1000" dirty="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682" name="Google Shape;682;p21"/>
          <p:cNvGrpSpPr/>
          <p:nvPr/>
        </p:nvGrpSpPr>
        <p:grpSpPr>
          <a:xfrm>
            <a:off x="1034785" y="2192460"/>
            <a:ext cx="425664" cy="389282"/>
            <a:chOff x="-1710628" y="2295530"/>
            <a:chExt cx="425664" cy="389282"/>
          </a:xfrm>
        </p:grpSpPr>
        <p:sp>
          <p:nvSpPr>
            <p:cNvPr id="683" name="Google Shape;683;p21"/>
            <p:cNvSpPr/>
            <p:nvPr/>
          </p:nvSpPr>
          <p:spPr>
            <a:xfrm>
              <a:off x="-1590910" y="2565152"/>
              <a:ext cx="53208" cy="53214"/>
            </a:xfrm>
            <a:custGeom>
              <a:avLst/>
              <a:gdLst/>
              <a:ahLst/>
              <a:cxnLst/>
              <a:rect l="l" t="t" r="r" b="b"/>
              <a:pathLst>
                <a:path w="9076" h="9077" extrusionOk="0">
                  <a:moveTo>
                    <a:pt x="6807" y="2270"/>
                  </a:moveTo>
                  <a:lnTo>
                    <a:pt x="6807" y="6808"/>
                  </a:lnTo>
                  <a:lnTo>
                    <a:pt x="2269" y="6808"/>
                  </a:lnTo>
                  <a:lnTo>
                    <a:pt x="2269" y="2270"/>
                  </a:lnTo>
                  <a:close/>
                  <a:moveTo>
                    <a:pt x="1135" y="1"/>
                  </a:moveTo>
                  <a:cubicBezTo>
                    <a:pt x="511" y="1"/>
                    <a:pt x="0" y="511"/>
                    <a:pt x="0" y="1135"/>
                  </a:cubicBezTo>
                  <a:lnTo>
                    <a:pt x="0" y="7942"/>
                  </a:lnTo>
                  <a:cubicBezTo>
                    <a:pt x="0" y="8566"/>
                    <a:pt x="511" y="9077"/>
                    <a:pt x="1135" y="9077"/>
                  </a:cubicBezTo>
                  <a:lnTo>
                    <a:pt x="7941" y="9077"/>
                  </a:lnTo>
                  <a:cubicBezTo>
                    <a:pt x="8565" y="9077"/>
                    <a:pt x="9076" y="8566"/>
                    <a:pt x="9076" y="7942"/>
                  </a:cubicBezTo>
                  <a:lnTo>
                    <a:pt x="9076" y="1135"/>
                  </a:lnTo>
                  <a:cubicBezTo>
                    <a:pt x="9076" y="511"/>
                    <a:pt x="8565" y="1"/>
                    <a:pt x="794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1"/>
            <p:cNvSpPr/>
            <p:nvPr/>
          </p:nvSpPr>
          <p:spPr>
            <a:xfrm>
              <a:off x="-1457895" y="2565152"/>
              <a:ext cx="53214" cy="53214"/>
            </a:xfrm>
            <a:custGeom>
              <a:avLst/>
              <a:gdLst/>
              <a:ahLst/>
              <a:cxnLst/>
              <a:rect l="l" t="t" r="r" b="b"/>
              <a:pathLst>
                <a:path w="9077" h="9077" extrusionOk="0">
                  <a:moveTo>
                    <a:pt x="6808" y="2270"/>
                  </a:moveTo>
                  <a:lnTo>
                    <a:pt x="6808" y="6808"/>
                  </a:lnTo>
                  <a:lnTo>
                    <a:pt x="2270" y="6808"/>
                  </a:lnTo>
                  <a:lnTo>
                    <a:pt x="2270" y="2270"/>
                  </a:lnTo>
                  <a:close/>
                  <a:moveTo>
                    <a:pt x="1135" y="1"/>
                  </a:moveTo>
                  <a:cubicBezTo>
                    <a:pt x="511" y="1"/>
                    <a:pt x="1" y="511"/>
                    <a:pt x="1" y="1135"/>
                  </a:cubicBezTo>
                  <a:lnTo>
                    <a:pt x="1" y="7942"/>
                  </a:lnTo>
                  <a:cubicBezTo>
                    <a:pt x="1" y="8566"/>
                    <a:pt x="511" y="9077"/>
                    <a:pt x="1135" y="9077"/>
                  </a:cubicBezTo>
                  <a:lnTo>
                    <a:pt x="7942" y="9077"/>
                  </a:lnTo>
                  <a:cubicBezTo>
                    <a:pt x="8566" y="9077"/>
                    <a:pt x="9076" y="8566"/>
                    <a:pt x="9076" y="7942"/>
                  </a:cubicBezTo>
                  <a:lnTo>
                    <a:pt x="9076" y="1135"/>
                  </a:lnTo>
                  <a:cubicBezTo>
                    <a:pt x="9076" y="511"/>
                    <a:pt x="8566" y="1"/>
                    <a:pt x="794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-1524406" y="2505273"/>
              <a:ext cx="55342" cy="53237"/>
            </a:xfrm>
            <a:custGeom>
              <a:avLst/>
              <a:gdLst/>
              <a:ahLst/>
              <a:cxnLst/>
              <a:rect l="l" t="t" r="r" b="b"/>
              <a:pathLst>
                <a:path w="9440" h="9081" extrusionOk="0">
                  <a:moveTo>
                    <a:pt x="4539" y="2273"/>
                  </a:moveTo>
                  <a:cubicBezTo>
                    <a:pt x="6558" y="2273"/>
                    <a:pt x="7579" y="4713"/>
                    <a:pt x="6150" y="6142"/>
                  </a:cubicBezTo>
                  <a:cubicBezTo>
                    <a:pt x="5687" y="6605"/>
                    <a:pt x="5117" y="6812"/>
                    <a:pt x="4558" y="6812"/>
                  </a:cubicBezTo>
                  <a:cubicBezTo>
                    <a:pt x="3391" y="6812"/>
                    <a:pt x="2270" y="5908"/>
                    <a:pt x="2270" y="4542"/>
                  </a:cubicBezTo>
                  <a:cubicBezTo>
                    <a:pt x="2270" y="3283"/>
                    <a:pt x="3291" y="2273"/>
                    <a:pt x="4539" y="2273"/>
                  </a:cubicBezTo>
                  <a:close/>
                  <a:moveTo>
                    <a:pt x="4535" y="1"/>
                  </a:moveTo>
                  <a:cubicBezTo>
                    <a:pt x="3952" y="1"/>
                    <a:pt x="3364" y="113"/>
                    <a:pt x="2803" y="345"/>
                  </a:cubicBezTo>
                  <a:cubicBezTo>
                    <a:pt x="1113" y="1048"/>
                    <a:pt x="1" y="2705"/>
                    <a:pt x="1" y="4542"/>
                  </a:cubicBezTo>
                  <a:cubicBezTo>
                    <a:pt x="1" y="7050"/>
                    <a:pt x="2032" y="9080"/>
                    <a:pt x="4539" y="9080"/>
                  </a:cubicBezTo>
                  <a:cubicBezTo>
                    <a:pt x="6377" y="9080"/>
                    <a:pt x="8033" y="7969"/>
                    <a:pt x="8736" y="6278"/>
                  </a:cubicBezTo>
                  <a:cubicBezTo>
                    <a:pt x="9440" y="4576"/>
                    <a:pt x="9043" y="2625"/>
                    <a:pt x="7749" y="1332"/>
                  </a:cubicBezTo>
                  <a:cubicBezTo>
                    <a:pt x="6882" y="465"/>
                    <a:pt x="5720" y="1"/>
                    <a:pt x="453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1"/>
            <p:cNvSpPr/>
            <p:nvPr/>
          </p:nvSpPr>
          <p:spPr>
            <a:xfrm>
              <a:off x="-1710628" y="2432085"/>
              <a:ext cx="425664" cy="252727"/>
            </a:xfrm>
            <a:custGeom>
              <a:avLst/>
              <a:gdLst/>
              <a:ahLst/>
              <a:cxnLst/>
              <a:rect l="l" t="t" r="r" b="b"/>
              <a:pathLst>
                <a:path w="72608" h="43109" extrusionOk="0">
                  <a:moveTo>
                    <a:pt x="36304" y="2494"/>
                  </a:moveTo>
                  <a:lnTo>
                    <a:pt x="57859" y="16505"/>
                  </a:lnTo>
                  <a:lnTo>
                    <a:pt x="57859" y="18331"/>
                  </a:lnTo>
                  <a:lnTo>
                    <a:pt x="36928" y="4717"/>
                  </a:lnTo>
                  <a:cubicBezTo>
                    <a:pt x="36741" y="4598"/>
                    <a:pt x="36525" y="4539"/>
                    <a:pt x="36309" y="4539"/>
                  </a:cubicBezTo>
                  <a:cubicBezTo>
                    <a:pt x="36094" y="4539"/>
                    <a:pt x="35878" y="4598"/>
                    <a:pt x="35691" y="4717"/>
                  </a:cubicBezTo>
                  <a:lnTo>
                    <a:pt x="14749" y="18331"/>
                  </a:lnTo>
                  <a:lnTo>
                    <a:pt x="14749" y="16505"/>
                  </a:lnTo>
                  <a:lnTo>
                    <a:pt x="36304" y="2494"/>
                  </a:lnTo>
                  <a:close/>
                  <a:moveTo>
                    <a:pt x="10211" y="36313"/>
                  </a:moveTo>
                  <a:cubicBezTo>
                    <a:pt x="10835" y="36313"/>
                    <a:pt x="11345" y="36823"/>
                    <a:pt x="11345" y="37447"/>
                  </a:cubicBezTo>
                  <a:lnTo>
                    <a:pt x="11345" y="38582"/>
                  </a:lnTo>
                  <a:cubicBezTo>
                    <a:pt x="11345" y="39206"/>
                    <a:pt x="11856" y="39716"/>
                    <a:pt x="12480" y="39716"/>
                  </a:cubicBezTo>
                  <a:cubicBezTo>
                    <a:pt x="13104" y="39716"/>
                    <a:pt x="13614" y="39206"/>
                    <a:pt x="13614" y="38582"/>
                  </a:cubicBezTo>
                  <a:cubicBezTo>
                    <a:pt x="13614" y="37958"/>
                    <a:pt x="14125" y="37447"/>
                    <a:pt x="14749" y="37447"/>
                  </a:cubicBezTo>
                  <a:cubicBezTo>
                    <a:pt x="15690" y="37447"/>
                    <a:pt x="15883" y="37901"/>
                    <a:pt x="15883" y="38582"/>
                  </a:cubicBezTo>
                  <a:lnTo>
                    <a:pt x="15883" y="40851"/>
                  </a:lnTo>
                  <a:lnTo>
                    <a:pt x="4538" y="40851"/>
                  </a:lnTo>
                  <a:lnTo>
                    <a:pt x="4538" y="38582"/>
                  </a:lnTo>
                  <a:cubicBezTo>
                    <a:pt x="4538" y="37958"/>
                    <a:pt x="5049" y="37447"/>
                    <a:pt x="5673" y="37447"/>
                  </a:cubicBezTo>
                  <a:cubicBezTo>
                    <a:pt x="6297" y="37447"/>
                    <a:pt x="6807" y="37958"/>
                    <a:pt x="6807" y="38582"/>
                  </a:cubicBezTo>
                  <a:cubicBezTo>
                    <a:pt x="6807" y="39206"/>
                    <a:pt x="7318" y="39716"/>
                    <a:pt x="7942" y="39716"/>
                  </a:cubicBezTo>
                  <a:cubicBezTo>
                    <a:pt x="8566" y="39716"/>
                    <a:pt x="9076" y="39206"/>
                    <a:pt x="9076" y="38582"/>
                  </a:cubicBezTo>
                  <a:lnTo>
                    <a:pt x="9076" y="37447"/>
                  </a:lnTo>
                  <a:cubicBezTo>
                    <a:pt x="9076" y="36823"/>
                    <a:pt x="9587" y="36313"/>
                    <a:pt x="10211" y="36313"/>
                  </a:cubicBezTo>
                  <a:close/>
                  <a:moveTo>
                    <a:pt x="38573" y="29506"/>
                  </a:moveTo>
                  <a:lnTo>
                    <a:pt x="38573" y="40851"/>
                  </a:lnTo>
                  <a:lnTo>
                    <a:pt x="34035" y="40851"/>
                  </a:lnTo>
                  <a:lnTo>
                    <a:pt x="34035" y="29506"/>
                  </a:lnTo>
                  <a:close/>
                  <a:moveTo>
                    <a:pt x="36304" y="7032"/>
                  </a:moveTo>
                  <a:lnTo>
                    <a:pt x="54455" y="18830"/>
                  </a:lnTo>
                  <a:lnTo>
                    <a:pt x="54455" y="40851"/>
                  </a:lnTo>
                  <a:lnTo>
                    <a:pt x="40842" y="40851"/>
                  </a:lnTo>
                  <a:lnTo>
                    <a:pt x="40842" y="28371"/>
                  </a:lnTo>
                  <a:cubicBezTo>
                    <a:pt x="40842" y="27747"/>
                    <a:pt x="40331" y="27237"/>
                    <a:pt x="39707" y="27237"/>
                  </a:cubicBezTo>
                  <a:lnTo>
                    <a:pt x="32900" y="27237"/>
                  </a:lnTo>
                  <a:cubicBezTo>
                    <a:pt x="32276" y="27237"/>
                    <a:pt x="31766" y="27747"/>
                    <a:pt x="31766" y="28371"/>
                  </a:cubicBezTo>
                  <a:lnTo>
                    <a:pt x="31766" y="40851"/>
                  </a:lnTo>
                  <a:lnTo>
                    <a:pt x="18152" y="40851"/>
                  </a:lnTo>
                  <a:lnTo>
                    <a:pt x="18152" y="18830"/>
                  </a:lnTo>
                  <a:lnTo>
                    <a:pt x="36304" y="7032"/>
                  </a:lnTo>
                  <a:close/>
                  <a:moveTo>
                    <a:pt x="62397" y="36313"/>
                  </a:moveTo>
                  <a:cubicBezTo>
                    <a:pt x="63021" y="36313"/>
                    <a:pt x="63531" y="36823"/>
                    <a:pt x="63531" y="37447"/>
                  </a:cubicBezTo>
                  <a:lnTo>
                    <a:pt x="63531" y="38582"/>
                  </a:lnTo>
                  <a:cubicBezTo>
                    <a:pt x="63531" y="39206"/>
                    <a:pt x="64042" y="39716"/>
                    <a:pt x="64666" y="39716"/>
                  </a:cubicBezTo>
                  <a:cubicBezTo>
                    <a:pt x="65290" y="39716"/>
                    <a:pt x="65800" y="39206"/>
                    <a:pt x="65800" y="38582"/>
                  </a:cubicBezTo>
                  <a:cubicBezTo>
                    <a:pt x="65800" y="37958"/>
                    <a:pt x="66311" y="37447"/>
                    <a:pt x="66935" y="37447"/>
                  </a:cubicBezTo>
                  <a:cubicBezTo>
                    <a:pt x="67876" y="37447"/>
                    <a:pt x="68069" y="37901"/>
                    <a:pt x="68069" y="38582"/>
                  </a:cubicBezTo>
                  <a:lnTo>
                    <a:pt x="68069" y="40851"/>
                  </a:lnTo>
                  <a:lnTo>
                    <a:pt x="56724" y="40851"/>
                  </a:lnTo>
                  <a:lnTo>
                    <a:pt x="56724" y="38582"/>
                  </a:lnTo>
                  <a:cubicBezTo>
                    <a:pt x="56724" y="37958"/>
                    <a:pt x="57235" y="37447"/>
                    <a:pt x="57859" y="37447"/>
                  </a:cubicBezTo>
                  <a:cubicBezTo>
                    <a:pt x="58483" y="37447"/>
                    <a:pt x="58993" y="37958"/>
                    <a:pt x="58993" y="38582"/>
                  </a:cubicBezTo>
                  <a:cubicBezTo>
                    <a:pt x="58993" y="39206"/>
                    <a:pt x="59504" y="39716"/>
                    <a:pt x="60128" y="39716"/>
                  </a:cubicBezTo>
                  <a:cubicBezTo>
                    <a:pt x="60752" y="39716"/>
                    <a:pt x="61262" y="39206"/>
                    <a:pt x="61262" y="38582"/>
                  </a:cubicBezTo>
                  <a:lnTo>
                    <a:pt x="61262" y="37447"/>
                  </a:lnTo>
                  <a:cubicBezTo>
                    <a:pt x="61262" y="36823"/>
                    <a:pt x="61773" y="36313"/>
                    <a:pt x="62397" y="36313"/>
                  </a:cubicBezTo>
                  <a:close/>
                  <a:moveTo>
                    <a:pt x="36298" y="1"/>
                  </a:moveTo>
                  <a:cubicBezTo>
                    <a:pt x="36083" y="1"/>
                    <a:pt x="35867" y="60"/>
                    <a:pt x="35680" y="179"/>
                  </a:cubicBezTo>
                  <a:lnTo>
                    <a:pt x="12990" y="14928"/>
                  </a:lnTo>
                  <a:cubicBezTo>
                    <a:pt x="12956" y="14950"/>
                    <a:pt x="12945" y="14984"/>
                    <a:pt x="12911" y="15007"/>
                  </a:cubicBezTo>
                  <a:cubicBezTo>
                    <a:pt x="12854" y="15064"/>
                    <a:pt x="12797" y="15109"/>
                    <a:pt x="12741" y="15177"/>
                  </a:cubicBezTo>
                  <a:cubicBezTo>
                    <a:pt x="12695" y="15234"/>
                    <a:pt x="12661" y="15291"/>
                    <a:pt x="12627" y="15347"/>
                  </a:cubicBezTo>
                  <a:cubicBezTo>
                    <a:pt x="12593" y="15415"/>
                    <a:pt x="12571" y="15472"/>
                    <a:pt x="12548" y="15552"/>
                  </a:cubicBezTo>
                  <a:cubicBezTo>
                    <a:pt x="12525" y="15620"/>
                    <a:pt x="12502" y="15699"/>
                    <a:pt x="12502" y="15767"/>
                  </a:cubicBezTo>
                  <a:cubicBezTo>
                    <a:pt x="12502" y="15813"/>
                    <a:pt x="12480" y="15847"/>
                    <a:pt x="12480" y="15881"/>
                  </a:cubicBezTo>
                  <a:lnTo>
                    <a:pt x="12480" y="20419"/>
                  </a:lnTo>
                  <a:cubicBezTo>
                    <a:pt x="12480" y="20453"/>
                    <a:pt x="12491" y="20487"/>
                    <a:pt x="12502" y="20521"/>
                  </a:cubicBezTo>
                  <a:cubicBezTo>
                    <a:pt x="12502" y="20589"/>
                    <a:pt x="12525" y="20668"/>
                    <a:pt x="12548" y="20736"/>
                  </a:cubicBezTo>
                  <a:cubicBezTo>
                    <a:pt x="12559" y="20816"/>
                    <a:pt x="12593" y="20884"/>
                    <a:pt x="12627" y="20952"/>
                  </a:cubicBezTo>
                  <a:cubicBezTo>
                    <a:pt x="12639" y="20974"/>
                    <a:pt x="12639" y="21008"/>
                    <a:pt x="12661" y="21043"/>
                  </a:cubicBezTo>
                  <a:cubicBezTo>
                    <a:pt x="12673" y="21065"/>
                    <a:pt x="12718" y="21088"/>
                    <a:pt x="12741" y="21122"/>
                  </a:cubicBezTo>
                  <a:cubicBezTo>
                    <a:pt x="12786" y="21179"/>
                    <a:pt x="12843" y="21235"/>
                    <a:pt x="12900" y="21292"/>
                  </a:cubicBezTo>
                  <a:cubicBezTo>
                    <a:pt x="12956" y="21326"/>
                    <a:pt x="13013" y="21372"/>
                    <a:pt x="13081" y="21406"/>
                  </a:cubicBezTo>
                  <a:cubicBezTo>
                    <a:pt x="13138" y="21440"/>
                    <a:pt x="13206" y="21462"/>
                    <a:pt x="13274" y="21485"/>
                  </a:cubicBezTo>
                  <a:cubicBezTo>
                    <a:pt x="13353" y="21508"/>
                    <a:pt x="13421" y="21530"/>
                    <a:pt x="13501" y="21530"/>
                  </a:cubicBezTo>
                  <a:cubicBezTo>
                    <a:pt x="13535" y="21542"/>
                    <a:pt x="13580" y="21553"/>
                    <a:pt x="13614" y="21553"/>
                  </a:cubicBezTo>
                  <a:cubicBezTo>
                    <a:pt x="13648" y="21553"/>
                    <a:pt x="13671" y="21542"/>
                    <a:pt x="13705" y="21542"/>
                  </a:cubicBezTo>
                  <a:cubicBezTo>
                    <a:pt x="13784" y="21530"/>
                    <a:pt x="13864" y="21519"/>
                    <a:pt x="13932" y="21496"/>
                  </a:cubicBezTo>
                  <a:cubicBezTo>
                    <a:pt x="14000" y="21474"/>
                    <a:pt x="14079" y="21440"/>
                    <a:pt x="14136" y="21406"/>
                  </a:cubicBezTo>
                  <a:cubicBezTo>
                    <a:pt x="14170" y="21394"/>
                    <a:pt x="14204" y="21394"/>
                    <a:pt x="14227" y="21372"/>
                  </a:cubicBezTo>
                  <a:lnTo>
                    <a:pt x="15883" y="20305"/>
                  </a:lnTo>
                  <a:lnTo>
                    <a:pt x="15883" y="35337"/>
                  </a:lnTo>
                  <a:cubicBezTo>
                    <a:pt x="15509" y="35224"/>
                    <a:pt x="15134" y="35167"/>
                    <a:pt x="14749" y="35167"/>
                  </a:cubicBezTo>
                  <a:cubicBezTo>
                    <a:pt x="14159" y="35167"/>
                    <a:pt x="13580" y="35314"/>
                    <a:pt x="13081" y="35609"/>
                  </a:cubicBezTo>
                  <a:cubicBezTo>
                    <a:pt x="12406" y="34560"/>
                    <a:pt x="11306" y="34035"/>
                    <a:pt x="10207" y="34035"/>
                  </a:cubicBezTo>
                  <a:cubicBezTo>
                    <a:pt x="9108" y="34035"/>
                    <a:pt x="8010" y="34560"/>
                    <a:pt x="7341" y="35609"/>
                  </a:cubicBezTo>
                  <a:cubicBezTo>
                    <a:pt x="6799" y="35303"/>
                    <a:pt x="6226" y="35163"/>
                    <a:pt x="5669" y="35163"/>
                  </a:cubicBezTo>
                  <a:cubicBezTo>
                    <a:pt x="3893" y="35163"/>
                    <a:pt x="2269" y="36584"/>
                    <a:pt x="2269" y="38570"/>
                  </a:cubicBezTo>
                  <a:lnTo>
                    <a:pt x="2269" y="40839"/>
                  </a:lnTo>
                  <a:lnTo>
                    <a:pt x="1135" y="40839"/>
                  </a:lnTo>
                  <a:cubicBezTo>
                    <a:pt x="511" y="40839"/>
                    <a:pt x="1" y="41350"/>
                    <a:pt x="1" y="41974"/>
                  </a:cubicBezTo>
                  <a:cubicBezTo>
                    <a:pt x="1" y="42598"/>
                    <a:pt x="511" y="43108"/>
                    <a:pt x="1135" y="43108"/>
                  </a:cubicBezTo>
                  <a:lnTo>
                    <a:pt x="71473" y="43108"/>
                  </a:lnTo>
                  <a:cubicBezTo>
                    <a:pt x="72097" y="43108"/>
                    <a:pt x="72607" y="42598"/>
                    <a:pt x="72607" y="41974"/>
                  </a:cubicBezTo>
                  <a:cubicBezTo>
                    <a:pt x="72607" y="41350"/>
                    <a:pt x="72097" y="40839"/>
                    <a:pt x="71473" y="40839"/>
                  </a:cubicBezTo>
                  <a:lnTo>
                    <a:pt x="71473" y="40851"/>
                  </a:lnTo>
                  <a:lnTo>
                    <a:pt x="70338" y="40851"/>
                  </a:lnTo>
                  <a:lnTo>
                    <a:pt x="70338" y="38582"/>
                  </a:lnTo>
                  <a:cubicBezTo>
                    <a:pt x="70338" y="36517"/>
                    <a:pt x="69011" y="35178"/>
                    <a:pt x="66935" y="35178"/>
                  </a:cubicBezTo>
                  <a:cubicBezTo>
                    <a:pt x="66356" y="35178"/>
                    <a:pt x="65778" y="35326"/>
                    <a:pt x="65267" y="35621"/>
                  </a:cubicBezTo>
                  <a:cubicBezTo>
                    <a:pt x="64598" y="34571"/>
                    <a:pt x="63500" y="34047"/>
                    <a:pt x="62402" y="34047"/>
                  </a:cubicBezTo>
                  <a:cubicBezTo>
                    <a:pt x="61305" y="34047"/>
                    <a:pt x="60207" y="34571"/>
                    <a:pt x="59538" y="35621"/>
                  </a:cubicBezTo>
                  <a:cubicBezTo>
                    <a:pt x="59027" y="35326"/>
                    <a:pt x="58449" y="35178"/>
                    <a:pt x="57859" y="35178"/>
                  </a:cubicBezTo>
                  <a:cubicBezTo>
                    <a:pt x="57473" y="35178"/>
                    <a:pt x="57087" y="35246"/>
                    <a:pt x="56724" y="35382"/>
                  </a:cubicBezTo>
                  <a:lnTo>
                    <a:pt x="56724" y="20305"/>
                  </a:lnTo>
                  <a:lnTo>
                    <a:pt x="58381" y="21383"/>
                  </a:lnTo>
                  <a:cubicBezTo>
                    <a:pt x="58415" y="21394"/>
                    <a:pt x="58460" y="21417"/>
                    <a:pt x="58494" y="21428"/>
                  </a:cubicBezTo>
                  <a:cubicBezTo>
                    <a:pt x="58528" y="21451"/>
                    <a:pt x="58562" y="21462"/>
                    <a:pt x="58608" y="21485"/>
                  </a:cubicBezTo>
                  <a:cubicBezTo>
                    <a:pt x="58732" y="21530"/>
                    <a:pt x="58857" y="21553"/>
                    <a:pt x="58993" y="21564"/>
                  </a:cubicBezTo>
                  <a:cubicBezTo>
                    <a:pt x="59129" y="21553"/>
                    <a:pt x="59266" y="21530"/>
                    <a:pt x="59390" y="21485"/>
                  </a:cubicBezTo>
                  <a:cubicBezTo>
                    <a:pt x="59413" y="21474"/>
                    <a:pt x="59447" y="21462"/>
                    <a:pt x="59470" y="21451"/>
                  </a:cubicBezTo>
                  <a:cubicBezTo>
                    <a:pt x="59583" y="21394"/>
                    <a:pt x="59685" y="21326"/>
                    <a:pt x="59776" y="21235"/>
                  </a:cubicBezTo>
                  <a:cubicBezTo>
                    <a:pt x="59799" y="21224"/>
                    <a:pt x="59810" y="21201"/>
                    <a:pt x="59822" y="21179"/>
                  </a:cubicBezTo>
                  <a:cubicBezTo>
                    <a:pt x="59867" y="21133"/>
                    <a:pt x="59912" y="21088"/>
                    <a:pt x="59946" y="21043"/>
                  </a:cubicBezTo>
                  <a:cubicBezTo>
                    <a:pt x="59958" y="21008"/>
                    <a:pt x="59969" y="20974"/>
                    <a:pt x="59980" y="20952"/>
                  </a:cubicBezTo>
                  <a:cubicBezTo>
                    <a:pt x="60014" y="20884"/>
                    <a:pt x="60037" y="20816"/>
                    <a:pt x="60060" y="20736"/>
                  </a:cubicBezTo>
                  <a:cubicBezTo>
                    <a:pt x="60082" y="20668"/>
                    <a:pt x="60094" y="20589"/>
                    <a:pt x="60105" y="20521"/>
                  </a:cubicBezTo>
                  <a:cubicBezTo>
                    <a:pt x="60105" y="20487"/>
                    <a:pt x="60128" y="20453"/>
                    <a:pt x="60128" y="20419"/>
                  </a:cubicBezTo>
                  <a:lnTo>
                    <a:pt x="60128" y="15881"/>
                  </a:lnTo>
                  <a:cubicBezTo>
                    <a:pt x="60128" y="15847"/>
                    <a:pt x="60105" y="15813"/>
                    <a:pt x="60105" y="15767"/>
                  </a:cubicBezTo>
                  <a:cubicBezTo>
                    <a:pt x="60094" y="15699"/>
                    <a:pt x="60082" y="15620"/>
                    <a:pt x="60060" y="15552"/>
                  </a:cubicBezTo>
                  <a:cubicBezTo>
                    <a:pt x="60037" y="15472"/>
                    <a:pt x="60003" y="15415"/>
                    <a:pt x="59969" y="15347"/>
                  </a:cubicBezTo>
                  <a:cubicBezTo>
                    <a:pt x="59935" y="15291"/>
                    <a:pt x="59901" y="15234"/>
                    <a:pt x="59856" y="15177"/>
                  </a:cubicBezTo>
                  <a:cubicBezTo>
                    <a:pt x="59810" y="15109"/>
                    <a:pt x="59753" y="15064"/>
                    <a:pt x="59685" y="15007"/>
                  </a:cubicBezTo>
                  <a:cubicBezTo>
                    <a:pt x="59663" y="14984"/>
                    <a:pt x="59640" y="14950"/>
                    <a:pt x="59606" y="14928"/>
                  </a:cubicBezTo>
                  <a:lnTo>
                    <a:pt x="36916" y="179"/>
                  </a:lnTo>
                  <a:cubicBezTo>
                    <a:pt x="36729" y="60"/>
                    <a:pt x="36514" y="1"/>
                    <a:pt x="3629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21"/>
            <p:cNvSpPr/>
            <p:nvPr/>
          </p:nvSpPr>
          <p:spPr>
            <a:xfrm>
              <a:off x="-1522805" y="2401940"/>
              <a:ext cx="50154" cy="23538"/>
            </a:xfrm>
            <a:custGeom>
              <a:avLst/>
              <a:gdLst/>
              <a:ahLst/>
              <a:cxnLst/>
              <a:rect l="l" t="t" r="r" b="b"/>
              <a:pathLst>
                <a:path w="8555" h="4015" extrusionOk="0">
                  <a:moveTo>
                    <a:pt x="4266" y="1"/>
                  </a:moveTo>
                  <a:cubicBezTo>
                    <a:pt x="2621" y="1"/>
                    <a:pt x="1112" y="886"/>
                    <a:pt x="306" y="2326"/>
                  </a:cubicBezTo>
                  <a:cubicBezTo>
                    <a:pt x="0" y="2871"/>
                    <a:pt x="193" y="3563"/>
                    <a:pt x="749" y="3869"/>
                  </a:cubicBezTo>
                  <a:cubicBezTo>
                    <a:pt x="924" y="3968"/>
                    <a:pt x="1114" y="4014"/>
                    <a:pt x="1301" y="4014"/>
                  </a:cubicBezTo>
                  <a:cubicBezTo>
                    <a:pt x="1698" y="4014"/>
                    <a:pt x="2084" y="3804"/>
                    <a:pt x="2292" y="3427"/>
                  </a:cubicBezTo>
                  <a:cubicBezTo>
                    <a:pt x="2723" y="2650"/>
                    <a:pt x="3500" y="2261"/>
                    <a:pt x="4277" y="2261"/>
                  </a:cubicBezTo>
                  <a:cubicBezTo>
                    <a:pt x="5054" y="2261"/>
                    <a:pt x="5831" y="2650"/>
                    <a:pt x="6262" y="3427"/>
                  </a:cubicBezTo>
                  <a:cubicBezTo>
                    <a:pt x="6471" y="3804"/>
                    <a:pt x="6856" y="4014"/>
                    <a:pt x="7253" y="4014"/>
                  </a:cubicBezTo>
                  <a:cubicBezTo>
                    <a:pt x="7441" y="4014"/>
                    <a:pt x="7631" y="3968"/>
                    <a:pt x="7805" y="3869"/>
                  </a:cubicBezTo>
                  <a:cubicBezTo>
                    <a:pt x="8361" y="3563"/>
                    <a:pt x="8554" y="2871"/>
                    <a:pt x="8248" y="2326"/>
                  </a:cubicBezTo>
                  <a:cubicBezTo>
                    <a:pt x="7442" y="886"/>
                    <a:pt x="5922" y="1"/>
                    <a:pt x="427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1"/>
            <p:cNvSpPr/>
            <p:nvPr/>
          </p:nvSpPr>
          <p:spPr>
            <a:xfrm>
              <a:off x="-1545950" y="2375272"/>
              <a:ext cx="96444" cy="37174"/>
            </a:xfrm>
            <a:custGeom>
              <a:avLst/>
              <a:gdLst/>
              <a:ahLst/>
              <a:cxnLst/>
              <a:rect l="l" t="t" r="r" b="b"/>
              <a:pathLst>
                <a:path w="16451" h="6341" extrusionOk="0">
                  <a:moveTo>
                    <a:pt x="8225" y="0"/>
                  </a:moveTo>
                  <a:cubicBezTo>
                    <a:pt x="4935" y="0"/>
                    <a:pt x="1906" y="1782"/>
                    <a:pt x="306" y="4652"/>
                  </a:cubicBezTo>
                  <a:cubicBezTo>
                    <a:pt x="0" y="5196"/>
                    <a:pt x="193" y="5888"/>
                    <a:pt x="738" y="6195"/>
                  </a:cubicBezTo>
                  <a:cubicBezTo>
                    <a:pt x="913" y="6293"/>
                    <a:pt x="1104" y="6340"/>
                    <a:pt x="1292" y="6340"/>
                  </a:cubicBezTo>
                  <a:cubicBezTo>
                    <a:pt x="1688" y="6340"/>
                    <a:pt x="2073" y="6133"/>
                    <a:pt x="2280" y="5764"/>
                  </a:cubicBezTo>
                  <a:cubicBezTo>
                    <a:pt x="3579" y="3438"/>
                    <a:pt x="5902" y="2275"/>
                    <a:pt x="8225" y="2275"/>
                  </a:cubicBezTo>
                  <a:cubicBezTo>
                    <a:pt x="10548" y="2275"/>
                    <a:pt x="12871" y="3438"/>
                    <a:pt x="14170" y="5764"/>
                  </a:cubicBezTo>
                  <a:lnTo>
                    <a:pt x="14158" y="5764"/>
                  </a:lnTo>
                  <a:cubicBezTo>
                    <a:pt x="14366" y="6133"/>
                    <a:pt x="14751" y="6340"/>
                    <a:pt x="15147" y="6340"/>
                  </a:cubicBezTo>
                  <a:cubicBezTo>
                    <a:pt x="15335" y="6340"/>
                    <a:pt x="15526" y="6293"/>
                    <a:pt x="15701" y="6195"/>
                  </a:cubicBezTo>
                  <a:cubicBezTo>
                    <a:pt x="16257" y="5888"/>
                    <a:pt x="16450" y="5196"/>
                    <a:pt x="16144" y="4652"/>
                  </a:cubicBezTo>
                  <a:cubicBezTo>
                    <a:pt x="14533" y="1782"/>
                    <a:pt x="11504" y="0"/>
                    <a:pt x="822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1"/>
            <p:cNvSpPr/>
            <p:nvPr/>
          </p:nvSpPr>
          <p:spPr>
            <a:xfrm>
              <a:off x="-1569295" y="2348732"/>
              <a:ext cx="143133" cy="50887"/>
            </a:xfrm>
            <a:custGeom>
              <a:avLst/>
              <a:gdLst/>
              <a:ahLst/>
              <a:cxnLst/>
              <a:rect l="l" t="t" r="r" b="b"/>
              <a:pathLst>
                <a:path w="24415" h="8680" extrusionOk="0">
                  <a:moveTo>
                    <a:pt x="12196" y="1"/>
                  </a:moveTo>
                  <a:cubicBezTo>
                    <a:pt x="7272" y="1"/>
                    <a:pt x="2723" y="2667"/>
                    <a:pt x="318" y="6967"/>
                  </a:cubicBezTo>
                  <a:cubicBezTo>
                    <a:pt x="0" y="7511"/>
                    <a:pt x="204" y="8203"/>
                    <a:pt x="749" y="8509"/>
                  </a:cubicBezTo>
                  <a:cubicBezTo>
                    <a:pt x="919" y="8600"/>
                    <a:pt x="1112" y="8657"/>
                    <a:pt x="1305" y="8657"/>
                  </a:cubicBezTo>
                  <a:cubicBezTo>
                    <a:pt x="1713" y="8657"/>
                    <a:pt x="2099" y="8430"/>
                    <a:pt x="2292" y="8067"/>
                  </a:cubicBezTo>
                  <a:cubicBezTo>
                    <a:pt x="4300" y="4482"/>
                    <a:pt x="8089" y="2270"/>
                    <a:pt x="12196" y="2270"/>
                  </a:cubicBezTo>
                  <a:cubicBezTo>
                    <a:pt x="16303" y="2270"/>
                    <a:pt x="20092" y="4482"/>
                    <a:pt x="22100" y="8067"/>
                  </a:cubicBezTo>
                  <a:cubicBezTo>
                    <a:pt x="22302" y="8456"/>
                    <a:pt x="22696" y="8679"/>
                    <a:pt x="23106" y="8679"/>
                  </a:cubicBezTo>
                  <a:cubicBezTo>
                    <a:pt x="23295" y="8679"/>
                    <a:pt x="23487" y="8632"/>
                    <a:pt x="23665" y="8532"/>
                  </a:cubicBezTo>
                  <a:cubicBezTo>
                    <a:pt x="24221" y="8226"/>
                    <a:pt x="24414" y="7511"/>
                    <a:pt x="24085" y="6967"/>
                  </a:cubicBezTo>
                  <a:cubicBezTo>
                    <a:pt x="21669" y="2667"/>
                    <a:pt x="17131" y="1"/>
                    <a:pt x="1219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1"/>
            <p:cNvSpPr/>
            <p:nvPr/>
          </p:nvSpPr>
          <p:spPr>
            <a:xfrm>
              <a:off x="-1592440" y="2322128"/>
              <a:ext cx="190086" cy="64388"/>
            </a:xfrm>
            <a:custGeom>
              <a:avLst/>
              <a:gdLst/>
              <a:ahLst/>
              <a:cxnLst/>
              <a:rect l="l" t="t" r="r" b="b"/>
              <a:pathLst>
                <a:path w="32424" h="10983" extrusionOk="0">
                  <a:moveTo>
                    <a:pt x="16155" y="1"/>
                  </a:moveTo>
                  <a:cubicBezTo>
                    <a:pt x="9575" y="1"/>
                    <a:pt x="3517" y="3552"/>
                    <a:pt x="306" y="9292"/>
                  </a:cubicBezTo>
                  <a:cubicBezTo>
                    <a:pt x="0" y="9837"/>
                    <a:pt x="193" y="10529"/>
                    <a:pt x="738" y="10835"/>
                  </a:cubicBezTo>
                  <a:cubicBezTo>
                    <a:pt x="916" y="10934"/>
                    <a:pt x="1108" y="10980"/>
                    <a:pt x="1297" y="10980"/>
                  </a:cubicBezTo>
                  <a:cubicBezTo>
                    <a:pt x="1698" y="10980"/>
                    <a:pt x="2084" y="10770"/>
                    <a:pt x="2292" y="10393"/>
                  </a:cubicBezTo>
                  <a:cubicBezTo>
                    <a:pt x="5094" y="5378"/>
                    <a:pt x="10403" y="2270"/>
                    <a:pt x="16155" y="2270"/>
                  </a:cubicBezTo>
                  <a:cubicBezTo>
                    <a:pt x="21907" y="2270"/>
                    <a:pt x="27216" y="5378"/>
                    <a:pt x="30030" y="10393"/>
                  </a:cubicBezTo>
                  <a:cubicBezTo>
                    <a:pt x="30223" y="10756"/>
                    <a:pt x="30597" y="10971"/>
                    <a:pt x="31005" y="10983"/>
                  </a:cubicBezTo>
                  <a:cubicBezTo>
                    <a:pt x="31868" y="10983"/>
                    <a:pt x="32424" y="10052"/>
                    <a:pt x="31992" y="9292"/>
                  </a:cubicBezTo>
                  <a:cubicBezTo>
                    <a:pt x="28782" y="3552"/>
                    <a:pt x="22724" y="1"/>
                    <a:pt x="1615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1"/>
            <p:cNvSpPr/>
            <p:nvPr/>
          </p:nvSpPr>
          <p:spPr>
            <a:xfrm>
              <a:off x="-1615720" y="2295530"/>
              <a:ext cx="235913" cy="78006"/>
            </a:xfrm>
            <a:custGeom>
              <a:avLst/>
              <a:gdLst/>
              <a:ahLst/>
              <a:cxnLst/>
              <a:rect l="l" t="t" r="r" b="b"/>
              <a:pathLst>
                <a:path w="40241" h="13306" extrusionOk="0">
                  <a:moveTo>
                    <a:pt x="20126" y="0"/>
                  </a:moveTo>
                  <a:cubicBezTo>
                    <a:pt x="11901" y="0"/>
                    <a:pt x="4323" y="4447"/>
                    <a:pt x="318" y="11617"/>
                  </a:cubicBezTo>
                  <a:cubicBezTo>
                    <a:pt x="1" y="12162"/>
                    <a:pt x="205" y="12854"/>
                    <a:pt x="749" y="13160"/>
                  </a:cubicBezTo>
                  <a:cubicBezTo>
                    <a:pt x="922" y="13257"/>
                    <a:pt x="1109" y="13303"/>
                    <a:pt x="1294" y="13303"/>
                  </a:cubicBezTo>
                  <a:cubicBezTo>
                    <a:pt x="1693" y="13303"/>
                    <a:pt x="2083" y="13090"/>
                    <a:pt x="2292" y="12718"/>
                  </a:cubicBezTo>
                  <a:cubicBezTo>
                    <a:pt x="5900" y="6262"/>
                    <a:pt x="12718" y="2269"/>
                    <a:pt x="20115" y="2269"/>
                  </a:cubicBezTo>
                  <a:cubicBezTo>
                    <a:pt x="27512" y="2269"/>
                    <a:pt x="34330" y="6262"/>
                    <a:pt x="37949" y="12718"/>
                  </a:cubicBezTo>
                  <a:cubicBezTo>
                    <a:pt x="38157" y="13095"/>
                    <a:pt x="38543" y="13305"/>
                    <a:pt x="38940" y="13305"/>
                  </a:cubicBezTo>
                  <a:cubicBezTo>
                    <a:pt x="39127" y="13305"/>
                    <a:pt x="39317" y="13258"/>
                    <a:pt x="39492" y="13160"/>
                  </a:cubicBezTo>
                  <a:cubicBezTo>
                    <a:pt x="40048" y="12854"/>
                    <a:pt x="40240" y="12162"/>
                    <a:pt x="39934" y="11617"/>
                  </a:cubicBezTo>
                  <a:cubicBezTo>
                    <a:pt x="35918" y="4447"/>
                    <a:pt x="28340" y="0"/>
                    <a:pt x="2012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>
          <a:extLst>
            <a:ext uri="{FF2B5EF4-FFF2-40B4-BE49-F238E27FC236}">
              <a16:creationId xmlns:a16="http://schemas.microsoft.com/office/drawing/2014/main" id="{911A0B30-58FE-9423-9405-1F87346D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2D9D95B-6052-58DB-60BD-02E2CD7536B0}"/>
              </a:ext>
            </a:extLst>
          </p:cNvPr>
          <p:cNvSpPr/>
          <p:nvPr/>
        </p:nvSpPr>
        <p:spPr>
          <a:xfrm>
            <a:off x="426571" y="423267"/>
            <a:ext cx="4084559" cy="4475299"/>
          </a:xfrm>
          <a:prstGeom prst="roundRect">
            <a:avLst>
              <a:gd name="adj" fmla="val 5216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1908" name="Google Shape;1908;p37">
            <a:extLst>
              <a:ext uri="{FF2B5EF4-FFF2-40B4-BE49-F238E27FC236}">
                <a16:creationId xmlns:a16="http://schemas.microsoft.com/office/drawing/2014/main" id="{10E2916E-D62C-53D9-4385-65BEDD207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9480" y="1776554"/>
            <a:ext cx="5356889" cy="8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dirty="0">
                <a:solidFill>
                  <a:srgbClr val="434343"/>
                </a:solidFill>
              </a:rPr>
              <a:t>REFERENCIAS</a:t>
            </a:r>
            <a:endParaRPr sz="4000" dirty="0">
              <a:solidFill>
                <a:srgbClr val="434343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06C6F2-9CFA-FBFF-9B58-6899ABB92DEA}"/>
              </a:ext>
            </a:extLst>
          </p:cNvPr>
          <p:cNvSpPr txBox="1"/>
          <p:nvPr/>
        </p:nvSpPr>
        <p:spPr>
          <a:xfrm>
            <a:off x="571500" y="812758"/>
            <a:ext cx="40005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[1]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Zillow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Research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 (2025). Home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cost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: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How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much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is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a 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home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?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Zillow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Learn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Center.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https://www.zillow.com/learn/home-appraisal-cost/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(Promedio $400, rango $350-550)</a:t>
            </a:r>
          </a:p>
          <a:p>
            <a:pPr lvl="0"/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[2]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Bankrate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 (2025, March 3).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How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much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does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a home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cost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?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https://www.bankrate.com/real-estate/how-much-does-an-appraisal-cost/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(Promedio $357 según Angi 2025, rango $314-423)</a:t>
            </a:r>
          </a:p>
          <a:p>
            <a:pPr lvl="0"/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[3] HomeAdvisor. (2024,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December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9). Home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cost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guide.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https://www.homeadvisor.com/cost/inspectors-and-appraisers/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(Promedio $358, rango $314-423)</a:t>
            </a:r>
          </a:p>
          <a:p>
            <a:pPr lvl="0"/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[4]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National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Association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of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Realtors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(NAR). (2024). Real estate 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market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statistics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and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trends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 NAR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Research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(Promedio nacional $500 según NAR)</a:t>
            </a:r>
          </a:p>
          <a:p>
            <a:pPr lvl="0"/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[5]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Rocket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Mortgage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 (2024, March 21).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How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long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does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an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take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?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https://www.rocketmortgage.com/learn/how-long-does-an-appraisal-take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(6-20 días proceso completo, típicamente 1-3 semanas)</a:t>
            </a:r>
          </a:p>
          <a:p>
            <a:pPr lvl="0"/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[6]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Redfin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Real Estate. (2025, June 11).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How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long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does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an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take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?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https://www.redfin.com/blog/how-long-does-an-appraisal-take/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(Pocos días a 3 semanas dependiendo factores)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117CF1-A0AE-9D18-C4CB-FD151A1E0FCB}"/>
              </a:ext>
            </a:extLst>
          </p:cNvPr>
          <p:cNvSpPr txBox="1"/>
          <p:nvPr/>
        </p:nvSpPr>
        <p:spPr>
          <a:xfrm>
            <a:off x="510511" y="551148"/>
            <a:ext cx="3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O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EB Garamond"/>
                <a:ea typeface="EB Garamond"/>
                <a:cs typeface="EB Garamond"/>
                <a:sym typeface="EB Garamond"/>
              </a:rPr>
              <a:t>COSTOS Y PROCESOS DE TASACIÓN INMOBILIARIA</a:t>
            </a:r>
          </a:p>
        </p:txBody>
      </p:sp>
    </p:spTree>
    <p:extLst>
      <p:ext uri="{BB962C8B-B14F-4D97-AF65-F5344CB8AC3E}">
        <p14:creationId xmlns:p14="http://schemas.microsoft.com/office/powerpoint/2010/main" val="542165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>
          <a:extLst>
            <a:ext uri="{FF2B5EF4-FFF2-40B4-BE49-F238E27FC236}">
              <a16:creationId xmlns:a16="http://schemas.microsoft.com/office/drawing/2014/main" id="{64A9D258-3CED-45D0-F399-C465807B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37">
            <a:extLst>
              <a:ext uri="{FF2B5EF4-FFF2-40B4-BE49-F238E27FC236}">
                <a16:creationId xmlns:a16="http://schemas.microsoft.com/office/drawing/2014/main" id="{334C932A-5F53-3B33-3845-A718A842D9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9480" y="1776554"/>
            <a:ext cx="5356889" cy="8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dirty="0">
                <a:solidFill>
                  <a:srgbClr val="434343"/>
                </a:solidFill>
              </a:rPr>
              <a:t>REFERENCIAS</a:t>
            </a:r>
            <a:endParaRPr sz="4000" dirty="0">
              <a:solidFill>
                <a:srgbClr val="434343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6E2E96-9F00-4762-D120-FB580F2CB059}"/>
              </a:ext>
            </a:extLst>
          </p:cNvPr>
          <p:cNvSpPr txBox="1"/>
          <p:nvPr/>
        </p:nvSpPr>
        <p:spPr>
          <a:xfrm>
            <a:off x="502891" y="573472"/>
            <a:ext cx="3916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[7] Churchill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Mortgage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 (2023, May 16).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How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timelines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affect</a:t>
            </a:r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home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buyers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https://www.churchillmortgage.com/articles/appraisal-timelines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(Tasadores en retiro, certificación requiere 2+ años)</a:t>
            </a:r>
          </a:p>
          <a:p>
            <a:pPr lvl="0"/>
            <a:endParaRPr lang="es-CO" sz="1000" dirty="0">
              <a:latin typeface="EB Garamond"/>
              <a:ea typeface="EB Garamond"/>
              <a:cs typeface="EB Garamond"/>
              <a:sym typeface="EB Garamond"/>
            </a:endParaRP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[8]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Houzeo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. (2024,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July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21).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How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long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does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a home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appraisal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O" sz="1000" dirty="0" err="1">
                <a:latin typeface="EB Garamond"/>
                <a:ea typeface="EB Garamond"/>
                <a:cs typeface="EB Garamond"/>
                <a:sym typeface="EB Garamond"/>
              </a:rPr>
              <a:t>take</a:t>
            </a:r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?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https://www.houzeo.com/blog/how-long-does-a-home-appraisal-take/</a:t>
            </a:r>
          </a:p>
          <a:p>
            <a:pPr lvl="0"/>
            <a:r>
              <a:rPr lang="es-CO" sz="1000" dirty="0">
                <a:latin typeface="EB Garamond"/>
                <a:ea typeface="EB Garamond"/>
                <a:cs typeface="EB Garamond"/>
                <a:sym typeface="EB Garamond"/>
              </a:rPr>
              <a:t>    (3% disminución anual en tasadores calificados)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50B0CA-6097-3A48-6F0F-2A1A252875E5}"/>
              </a:ext>
            </a:extLst>
          </p:cNvPr>
          <p:cNvSpPr txBox="1"/>
          <p:nvPr/>
        </p:nvSpPr>
        <p:spPr>
          <a:xfrm>
            <a:off x="502891" y="251236"/>
            <a:ext cx="40919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100" b="1">
                <a:latin typeface="EB Garamond"/>
                <a:ea typeface="EB Garamond"/>
                <a:cs typeface="EB Garamond"/>
              </a:defRPr>
            </a:lvl1pPr>
          </a:lstStyle>
          <a:p>
            <a:r>
              <a:rPr lang="es-CO" dirty="0">
                <a:sym typeface="EB Garamond"/>
              </a:rPr>
              <a:t>ESCASEZ DE TASADORES Y TENDENCIAS DEL SECTOR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8B36BD8-D9E5-C976-5C92-EB7EE6D38CE6}"/>
              </a:ext>
            </a:extLst>
          </p:cNvPr>
          <p:cNvSpPr txBox="1"/>
          <p:nvPr/>
        </p:nvSpPr>
        <p:spPr>
          <a:xfrm>
            <a:off x="502891" y="2302967"/>
            <a:ext cx="39166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latin typeface="EB Garamond"/>
                <a:ea typeface="EB Garamond"/>
                <a:cs typeface="EB Garamond"/>
              </a:defRPr>
            </a:lvl1pPr>
          </a:lstStyle>
          <a:p>
            <a:r>
              <a:rPr lang="es-CO" dirty="0">
                <a:sym typeface="EB Garamond"/>
              </a:rPr>
              <a:t>[9] </a:t>
            </a:r>
            <a:r>
              <a:rPr lang="es-CO" dirty="0" err="1">
                <a:sym typeface="EB Garamond"/>
              </a:rPr>
              <a:t>Zillow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Group</a:t>
            </a:r>
            <a:r>
              <a:rPr lang="es-CO" dirty="0">
                <a:sym typeface="EB Garamond"/>
              </a:rPr>
              <a:t>. (2024). </a:t>
            </a:r>
            <a:r>
              <a:rPr lang="es-CO" dirty="0" err="1">
                <a:sym typeface="EB Garamond"/>
              </a:rPr>
              <a:t>Zestimate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accuracy</a:t>
            </a:r>
            <a:r>
              <a:rPr lang="es-CO" dirty="0">
                <a:sym typeface="EB Garamond"/>
              </a:rPr>
              <a:t> and </a:t>
            </a:r>
            <a:r>
              <a:rPr lang="es-CO" dirty="0" err="1">
                <a:sym typeface="EB Garamond"/>
              </a:rPr>
              <a:t>methodology</a:t>
            </a:r>
            <a:r>
              <a:rPr lang="es-CO" dirty="0">
                <a:sym typeface="EB Garamond"/>
              </a:rPr>
              <a:t>.</a:t>
            </a:r>
          </a:p>
          <a:p>
            <a:r>
              <a:rPr lang="es-CO" dirty="0">
                <a:sym typeface="EB Garamond"/>
              </a:rPr>
              <a:t>    https://www.zillow.com/z/zestimate/</a:t>
            </a:r>
          </a:p>
          <a:p>
            <a:r>
              <a:rPr lang="es-CO" dirty="0">
                <a:sym typeface="EB Garamond"/>
              </a:rPr>
              <a:t>    (Margen error típico ~7%, R² aproximado 0.76)</a:t>
            </a:r>
          </a:p>
          <a:p>
            <a:endParaRPr lang="es-CO" dirty="0">
              <a:sym typeface="EB Garamond"/>
            </a:endParaRPr>
          </a:p>
          <a:p>
            <a:r>
              <a:rPr lang="es-CO" dirty="0">
                <a:sym typeface="EB Garamond"/>
              </a:rPr>
              <a:t>[10] </a:t>
            </a:r>
            <a:r>
              <a:rPr lang="es-CO" dirty="0" err="1">
                <a:sym typeface="EB Garamond"/>
              </a:rPr>
              <a:t>Kaggle</a:t>
            </a:r>
            <a:r>
              <a:rPr lang="es-CO" dirty="0">
                <a:sym typeface="EB Garamond"/>
              </a:rPr>
              <a:t>. (2023). California </a:t>
            </a:r>
            <a:r>
              <a:rPr lang="es-CO" dirty="0" err="1">
                <a:sym typeface="EB Garamond"/>
              </a:rPr>
              <a:t>housing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prices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competition</a:t>
            </a:r>
            <a:r>
              <a:rPr lang="es-CO" dirty="0">
                <a:sym typeface="EB Garamond"/>
              </a:rPr>
              <a:t>.</a:t>
            </a:r>
          </a:p>
          <a:p>
            <a:r>
              <a:rPr lang="es-CO" dirty="0">
                <a:sym typeface="EB Garamond"/>
              </a:rPr>
              <a:t>     https://www.kaggle.com/c/california-housing-prices</a:t>
            </a:r>
          </a:p>
          <a:p>
            <a:r>
              <a:rPr lang="es-CO" dirty="0">
                <a:sym typeface="EB Garamond"/>
              </a:rPr>
              <a:t>     (Soluciones top: R² hasta 0.88 con </a:t>
            </a:r>
            <a:r>
              <a:rPr lang="es-CO" dirty="0" err="1">
                <a:sym typeface="EB Garamond"/>
              </a:rPr>
              <a:t>feature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engineering</a:t>
            </a:r>
            <a:r>
              <a:rPr lang="es-CO" dirty="0">
                <a:sym typeface="EB Garamond"/>
              </a:rPr>
              <a:t> extenso)</a:t>
            </a:r>
          </a:p>
          <a:p>
            <a:endParaRPr lang="es-CO" dirty="0">
              <a:sym typeface="EB Garamond"/>
            </a:endParaRPr>
          </a:p>
          <a:p>
            <a:r>
              <a:rPr lang="es-CO" dirty="0">
                <a:sym typeface="EB Garamond"/>
              </a:rPr>
              <a:t>[11] Pace, R. K., &amp; Barry, R. (1997). </a:t>
            </a:r>
            <a:r>
              <a:rPr lang="es-CO" dirty="0" err="1">
                <a:sym typeface="EB Garamond"/>
              </a:rPr>
              <a:t>Sparse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spatial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autoregressions</a:t>
            </a:r>
            <a:r>
              <a:rPr lang="es-CO" dirty="0">
                <a:sym typeface="EB Garamond"/>
              </a:rPr>
              <a:t>.</a:t>
            </a:r>
          </a:p>
          <a:p>
            <a:r>
              <a:rPr lang="es-CO" dirty="0">
                <a:sym typeface="EB Garamond"/>
              </a:rPr>
              <a:t>     </a:t>
            </a:r>
            <a:r>
              <a:rPr lang="es-CO" dirty="0" err="1">
                <a:sym typeface="EB Garamond"/>
              </a:rPr>
              <a:t>Statistics</a:t>
            </a:r>
            <a:r>
              <a:rPr lang="es-CO" dirty="0">
                <a:sym typeface="EB Garamond"/>
              </a:rPr>
              <a:t> &amp; </a:t>
            </a:r>
            <a:r>
              <a:rPr lang="es-CO" dirty="0" err="1">
                <a:sym typeface="EB Garamond"/>
              </a:rPr>
              <a:t>Probability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Letters</a:t>
            </a:r>
            <a:r>
              <a:rPr lang="es-CO" dirty="0">
                <a:sym typeface="EB Garamond"/>
              </a:rPr>
              <a:t>, 33(3), 291-297.</a:t>
            </a:r>
          </a:p>
          <a:p>
            <a:r>
              <a:rPr lang="es-CO" dirty="0">
                <a:sym typeface="EB Garamond"/>
              </a:rPr>
              <a:t>     https://doi.org/10.1016/S0167-7152(96)00140-X</a:t>
            </a:r>
          </a:p>
          <a:p>
            <a:r>
              <a:rPr lang="es-CO" dirty="0">
                <a:sym typeface="EB Garamond"/>
              </a:rPr>
              <a:t>     (</a:t>
            </a:r>
            <a:r>
              <a:rPr lang="es-CO" dirty="0" err="1">
                <a:sym typeface="EB Garamond"/>
              </a:rPr>
              <a:t>Paper</a:t>
            </a:r>
            <a:r>
              <a:rPr lang="es-CO" dirty="0">
                <a:sym typeface="EB Garamond"/>
              </a:rPr>
              <a:t> original California </a:t>
            </a:r>
            <a:r>
              <a:rPr lang="es-CO" dirty="0" err="1">
                <a:sym typeface="EB Garamond"/>
              </a:rPr>
              <a:t>Housing</a:t>
            </a:r>
            <a:r>
              <a:rPr lang="es-CO" dirty="0">
                <a:sym typeface="EB Garamond"/>
              </a:rPr>
              <a:t> Dataset)</a:t>
            </a:r>
          </a:p>
          <a:p>
            <a:endParaRPr lang="es-CO" dirty="0">
              <a:sym typeface="EB Garamond"/>
            </a:endParaRPr>
          </a:p>
          <a:p>
            <a:r>
              <a:rPr lang="es-CO" dirty="0">
                <a:sym typeface="EB Garamond"/>
              </a:rPr>
              <a:t>[12] UCI Machine </a:t>
            </a:r>
            <a:r>
              <a:rPr lang="es-CO" dirty="0" err="1">
                <a:sym typeface="EB Garamond"/>
              </a:rPr>
              <a:t>Learning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Repository</a:t>
            </a:r>
            <a:r>
              <a:rPr lang="es-CO" dirty="0">
                <a:sym typeface="EB Garamond"/>
              </a:rPr>
              <a:t>. (2020). California </a:t>
            </a:r>
            <a:r>
              <a:rPr lang="es-CO" dirty="0" err="1">
                <a:sym typeface="EB Garamond"/>
              </a:rPr>
              <a:t>housing</a:t>
            </a:r>
            <a:r>
              <a:rPr lang="es-CO" dirty="0">
                <a:sym typeface="EB Garamond"/>
              </a:rPr>
              <a:t> dataset.</a:t>
            </a:r>
          </a:p>
          <a:p>
            <a:r>
              <a:rPr lang="es-CO" dirty="0">
                <a:sym typeface="EB Garamond"/>
              </a:rPr>
              <a:t>     </a:t>
            </a:r>
            <a:r>
              <a:rPr lang="es-CO" dirty="0" err="1">
                <a:sym typeface="EB Garamond"/>
              </a:rPr>
              <a:t>University</a:t>
            </a:r>
            <a:r>
              <a:rPr lang="es-CO" dirty="0">
                <a:sym typeface="EB Garamond"/>
              </a:rPr>
              <a:t> </a:t>
            </a:r>
            <a:r>
              <a:rPr lang="es-CO" dirty="0" err="1">
                <a:sym typeface="EB Garamond"/>
              </a:rPr>
              <a:t>of</a:t>
            </a:r>
            <a:r>
              <a:rPr lang="es-CO" dirty="0">
                <a:sym typeface="EB Garamond"/>
              </a:rPr>
              <a:t> California, Irvine.</a:t>
            </a:r>
          </a:p>
          <a:p>
            <a:r>
              <a:rPr lang="es-CO" dirty="0">
                <a:sym typeface="EB Garamond"/>
              </a:rPr>
              <a:t>     https://archive.ics.uci.edu/ml/datasets/California+Housing</a:t>
            </a:r>
          </a:p>
          <a:p>
            <a:r>
              <a:rPr lang="es-CO" dirty="0">
                <a:sym typeface="EB Garamond"/>
              </a:rPr>
              <a:t>     (Dataset estándar: 20,640 observaciones casas CA)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D20886-B92B-7F8A-7E2E-1597BC710A34}"/>
              </a:ext>
            </a:extLst>
          </p:cNvPr>
          <p:cNvSpPr txBox="1"/>
          <p:nvPr/>
        </p:nvSpPr>
        <p:spPr>
          <a:xfrm>
            <a:off x="502891" y="2003257"/>
            <a:ext cx="3131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100" b="1">
                <a:latin typeface="EB Garamond"/>
                <a:ea typeface="EB Garamond"/>
                <a:cs typeface="EB Garamond"/>
              </a:defRPr>
            </a:lvl1pPr>
          </a:lstStyle>
          <a:p>
            <a:r>
              <a:rPr lang="es-CO" dirty="0">
                <a:sym typeface="EB Garamond"/>
              </a:rPr>
              <a:t>SISTEMAS DE PREDICCIÓN INMOBILIARIA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D0E177B-9721-3156-25E5-28C857F42A5B}"/>
              </a:ext>
            </a:extLst>
          </p:cNvPr>
          <p:cNvSpPr/>
          <p:nvPr/>
        </p:nvSpPr>
        <p:spPr>
          <a:xfrm>
            <a:off x="418951" y="171807"/>
            <a:ext cx="4084559" cy="1725104"/>
          </a:xfrm>
          <a:prstGeom prst="roundRect">
            <a:avLst>
              <a:gd name="adj" fmla="val 5216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545C960-479F-14A4-4CC9-57ACEC9FB14E}"/>
              </a:ext>
            </a:extLst>
          </p:cNvPr>
          <p:cNvSpPr/>
          <p:nvPr/>
        </p:nvSpPr>
        <p:spPr>
          <a:xfrm>
            <a:off x="418950" y="1976339"/>
            <a:ext cx="4084559" cy="3027441"/>
          </a:xfrm>
          <a:prstGeom prst="roundRect">
            <a:avLst>
              <a:gd name="adj" fmla="val 5216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36546487"/>
      </p:ext>
    </p:extLst>
  </p:cSld>
  <p:clrMapOvr>
    <a:masterClrMapping/>
  </p:clrMapOvr>
</p:sld>
</file>

<file path=ppt/theme/theme1.xml><?xml version="1.0" encoding="utf-8"?>
<a:theme xmlns:a="http://schemas.openxmlformats.org/drawingml/2006/main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1033</Words>
  <Application>Microsoft Office PowerPoint</Application>
  <PresentationFormat>Presentación en pantalla (16:9)</PresentationFormat>
  <Paragraphs>162</Paragraphs>
  <Slides>9</Slides>
  <Notes>9</Notes>
  <HiddenSlides>1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Wingdings</vt:lpstr>
      <vt:lpstr>Oswald</vt:lpstr>
      <vt:lpstr>Fira Sans Extra Condensed Medium</vt:lpstr>
      <vt:lpstr>Montserrat Black</vt:lpstr>
      <vt:lpstr>Arial</vt:lpstr>
      <vt:lpstr>Montserrat</vt:lpstr>
      <vt:lpstr>Montserrat ExtraBold</vt:lpstr>
      <vt:lpstr>EB Garamond</vt:lpstr>
      <vt:lpstr>Montserrat Light</vt:lpstr>
      <vt:lpstr>Real Estate Marketing Plan </vt:lpstr>
      <vt:lpstr>SISTEMA PREDICTIVO DE TASACIÓN INMOBILIARIA</vt:lpstr>
      <vt:lpstr>PROBLEMA: Crisis de la Tasación Inmobiliaria </vt:lpstr>
      <vt:lpstr>SOLUCIÓN – Arquitectura Técnica</vt:lpstr>
      <vt:lpstr>SOLUCIÓN</vt:lpstr>
      <vt:lpstr>COMPARACIÓN CON ESTADO DEL ARTE</vt:lpstr>
      <vt:lpstr>DEMO EN VIVO</vt:lpstr>
      <vt:lpstr>VENTAJAS COMPETITIVAS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Johana Blanquicet</dc:creator>
  <cp:lastModifiedBy>Johana Blanquicet</cp:lastModifiedBy>
  <cp:revision>7</cp:revision>
  <dcterms:modified xsi:type="dcterms:W3CDTF">2025-11-22T04:33:30Z</dcterms:modified>
</cp:coreProperties>
</file>